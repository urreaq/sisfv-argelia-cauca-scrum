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24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192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Fase 2 - Estructura de Scrum_Grupo 202086806A.pdf (portada e introducción).
- Contenido del proyecto y denominación SISFV – Argelia, Cauca adaptados del documento base.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Fase 2 - Estructura de Scrum_Grupo 202086806A.pdf, Tabla 1.
- Datos de 441 soluciones, horizonte 6–8 meses y presupuesto del proyecto tomados del documento base.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Fase 2 - Estructura de Scrum_Grupo 202086806A.pdf, Tablas 2 y 3.
- Síntesis visual de transparencia, inspección, adaptación y valores Scrum aplicada al proyecto SISFV.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Fase 2 - Estructura de Scrum_Grupo 202086806A.pdf, Tabla 4.
- Herramientas destacadas: Jira, Teams y ArcGIS Survey123 según la planificación del documento.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Planificación de artefactos Scrum desarrollada para SISFV – Argelia, Cauca a partir del documento de Fase 2.
- Ajuste del nombre del proyecto solicitado por el usuario.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Repositorio_SISFV_Argelia_Cauca.zip generado en la conversación.
- Punto 1 del trabajo: repositorio en línea con soportes, formatos, procedimientos y lineamientos.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9326880" y="91440"/>
            <a:ext cx="2286000" cy="2011680"/>
          </a:xfrm>
          <a:prstGeom prst="arc">
            <a:avLst/>
          </a:prstGeom>
          <a:noFill/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182880" y="4663440"/>
            <a:ext cx="1645920" cy="1463040"/>
          </a:xfrm>
          <a:prstGeom prst="arc">
            <a:avLst/>
          </a:prstGeom>
          <a:noFill/>
          <a:ln w="12700">
            <a:solidFill>
              <a:srgbClr val="F59E0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750" noProof="0" dirty="0">
                <a:solidFill>
                  <a:srgbClr val="B6C6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202086806A</a:t>
            </a:r>
            <a:endParaRPr lang="es-CO" sz="750" noProof="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7" name="Shape 5"/>
          <p:cNvSpPr/>
          <p:nvPr/>
        </p:nvSpPr>
        <p:spPr>
          <a:xfrm>
            <a:off x="8046720" y="-548640"/>
            <a:ext cx="4572000" cy="4206240"/>
          </a:xfrm>
          <a:prstGeom prst="arc">
            <a:avLst/>
          </a:prstGeom>
          <a:noFill/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8" name="Shape 6"/>
          <p:cNvSpPr/>
          <p:nvPr/>
        </p:nvSpPr>
        <p:spPr>
          <a:xfrm>
            <a:off x="8503920" y="91440"/>
            <a:ext cx="3657600" cy="3383280"/>
          </a:xfrm>
          <a:prstGeom prst="arc">
            <a:avLst/>
          </a:prstGeom>
          <a:noFill/>
          <a:ln w="12700">
            <a:solidFill>
              <a:srgbClr val="14B8A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9" name="Shape 7"/>
          <p:cNvSpPr/>
          <p:nvPr/>
        </p:nvSpPr>
        <p:spPr>
          <a:xfrm>
            <a:off x="9326880" y="822960"/>
            <a:ext cx="2560320" cy="2286000"/>
          </a:xfrm>
          <a:prstGeom prst="arc">
            <a:avLst/>
          </a:prstGeom>
          <a:noFill/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8"/>
          <p:cNvSpPr/>
          <p:nvPr/>
        </p:nvSpPr>
        <p:spPr>
          <a:xfrm>
            <a:off x="640080" y="7315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F59E0B"/>
                </a:solidFill>
              </a:rPr>
              <a:t>Memoria del Proyecto Scrum</a:t>
            </a:r>
            <a:endParaRPr lang="es-CO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12344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800" b="1" noProof="0" dirty="0">
                <a:solidFill>
                  <a:srgbClr val="FFFFFF"/>
                </a:solidFill>
              </a:rPr>
              <a:t>SISFV – Argelia, Cauca</a:t>
            </a:r>
            <a:endParaRPr lang="es-CO" sz="2800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800" b="1" noProof="0" dirty="0">
                <a:solidFill>
                  <a:srgbClr val="E5EEF9"/>
                </a:solidFill>
              </a:rPr>
              <a:t>Construcción de Sistemas de Energía Solar Fotovoltaica en la zona rural</a:t>
            </a:r>
            <a:endParaRPr lang="es-CO" sz="1800" noProof="0" dirty="0"/>
          </a:p>
        </p:txBody>
      </p:sp>
      <p:sp>
        <p:nvSpPr>
          <p:cNvPr id="13" name="Shape 11"/>
          <p:cNvSpPr/>
          <p:nvPr/>
        </p:nvSpPr>
        <p:spPr>
          <a:xfrm>
            <a:off x="658368" y="2880360"/>
            <a:ext cx="5029200" cy="2057400"/>
          </a:xfrm>
          <a:prstGeom prst="roundRect">
            <a:avLst/>
          </a:prstGeom>
          <a:solidFill>
            <a:srgbClr val="132240">
              <a:alpha val="95000"/>
            </a:srgbClr>
          </a:solidFill>
          <a:ln w="12700">
            <a:solidFill>
              <a:srgbClr val="132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FFFFFF"/>
                </a:solidFill>
              </a:rPr>
              <a:t>Qué muestra esta memoria</a:t>
            </a:r>
            <a:br>
              <a:rPr lang="es-CO" sz="1400" b="1" noProof="0" dirty="0">
                <a:solidFill>
                  <a:srgbClr val="FFFFFF"/>
                </a:solidFill>
              </a:rPr>
            </a:br>
            <a:r>
              <a:rPr lang="es-CO" sz="1400" b="1" noProof="0" dirty="0">
                <a:solidFill>
                  <a:srgbClr val="FFFFFF"/>
                </a:solidFill>
              </a:rPr>
              <a:t>
</a:t>
            </a:r>
            <a:r>
              <a:rPr lang="es-CO" sz="1400" noProof="0" dirty="0">
                <a:solidFill>
                  <a:srgbClr val="E5EEF9"/>
                </a:solidFill>
              </a:rPr>
              <a:t>• Ficha técnica del proyecto.</a:t>
            </a:r>
            <a:endParaRPr lang="es-CO" sz="1400" noProof="0" dirty="0"/>
          </a:p>
          <a:p>
            <a:pPr marL="0" indent="0">
              <a:buNone/>
            </a:pPr>
            <a:r>
              <a:rPr lang="es-CO" sz="1400" noProof="0" dirty="0">
                <a:solidFill>
                  <a:srgbClr val="E5EEF9"/>
                </a:solidFill>
              </a:rPr>
              <a:t>• Principios y valores Scrum aplicados.</a:t>
            </a:r>
            <a:endParaRPr lang="es-CO" sz="1400" noProof="0" dirty="0"/>
          </a:p>
          <a:p>
            <a:pPr marL="0" indent="0">
              <a:buNone/>
            </a:pPr>
            <a:r>
              <a:rPr lang="es-CO" sz="1400" noProof="0" dirty="0">
                <a:solidFill>
                  <a:srgbClr val="E5EEF9"/>
                </a:solidFill>
              </a:rPr>
              <a:t>• Eventos y artefactos con tecnologías emergentes.</a:t>
            </a:r>
            <a:endParaRPr lang="es-CO" sz="1400" noProof="0" dirty="0"/>
          </a:p>
          <a:p>
            <a:pPr marL="0" indent="0">
              <a:buNone/>
            </a:pPr>
            <a:r>
              <a:rPr lang="es-CO" sz="1400" noProof="0" dirty="0">
                <a:solidFill>
                  <a:srgbClr val="E5EEF9"/>
                </a:solidFill>
              </a:rPr>
              <a:t>• Repositorio en línea y presentación como evidencia final.</a:t>
            </a:r>
            <a:endParaRPr lang="es-CO" sz="1400" noProof="0" dirty="0"/>
          </a:p>
        </p:txBody>
      </p:sp>
      <p:sp>
        <p:nvSpPr>
          <p:cNvPr id="17" name="Shape 14"/>
          <p:cNvSpPr/>
          <p:nvPr/>
        </p:nvSpPr>
        <p:spPr>
          <a:xfrm>
            <a:off x="658368" y="5303520"/>
            <a:ext cx="1874520" cy="310896"/>
          </a:xfrm>
          <a:prstGeom prst="roundRect">
            <a:avLst>
              <a:gd name="adj" fmla="val 4705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sz="3200" noProof="0" dirty="0"/>
          </a:p>
        </p:txBody>
      </p:sp>
      <p:sp>
        <p:nvSpPr>
          <p:cNvPr id="18" name="Text 15"/>
          <p:cNvSpPr/>
          <p:nvPr/>
        </p:nvSpPr>
        <p:spPr>
          <a:xfrm>
            <a:off x="731520" y="5358384"/>
            <a:ext cx="1728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</a:rPr>
              <a:t>AGILE + SCRUM</a:t>
            </a:r>
            <a:endParaRPr lang="es-CO" sz="1200" noProof="0" dirty="0"/>
          </a:p>
        </p:txBody>
      </p:sp>
      <p:sp>
        <p:nvSpPr>
          <p:cNvPr id="19" name="Shape 16"/>
          <p:cNvSpPr/>
          <p:nvPr/>
        </p:nvSpPr>
        <p:spPr>
          <a:xfrm>
            <a:off x="2697480" y="5303520"/>
            <a:ext cx="2331720" cy="310896"/>
          </a:xfrm>
          <a:prstGeom prst="roundRect">
            <a:avLst>
              <a:gd name="adj" fmla="val 4705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sz="3200" noProof="0" dirty="0"/>
          </a:p>
        </p:txBody>
      </p:sp>
      <p:sp>
        <p:nvSpPr>
          <p:cNvPr id="20" name="Text 17"/>
          <p:cNvSpPr/>
          <p:nvPr/>
        </p:nvSpPr>
        <p:spPr>
          <a:xfrm>
            <a:off x="2770632" y="5358384"/>
            <a:ext cx="21854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</a:rPr>
              <a:t>Tecnologías Emergentes</a:t>
            </a:r>
            <a:endParaRPr lang="es-CO" sz="1200" noProof="0" dirty="0"/>
          </a:p>
        </p:txBody>
      </p:sp>
      <p:sp>
        <p:nvSpPr>
          <p:cNvPr id="21" name="Shape 18"/>
          <p:cNvSpPr/>
          <p:nvPr/>
        </p:nvSpPr>
        <p:spPr>
          <a:xfrm>
            <a:off x="5230368" y="5303520"/>
            <a:ext cx="1417320" cy="310896"/>
          </a:xfrm>
          <a:prstGeom prst="roundRect">
            <a:avLst>
              <a:gd name="adj" fmla="val 4705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 sz="3200" noProof="0" dirty="0"/>
          </a:p>
        </p:txBody>
      </p:sp>
      <p:sp>
        <p:nvSpPr>
          <p:cNvPr id="22" name="Text 19"/>
          <p:cNvSpPr/>
          <p:nvPr/>
        </p:nvSpPr>
        <p:spPr>
          <a:xfrm>
            <a:off x="5303520" y="5358384"/>
            <a:ext cx="12710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</a:rPr>
              <a:t>ZNI</a:t>
            </a:r>
            <a:endParaRPr lang="es-CO" sz="1200" noProof="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350C9D9-7E77-CED5-C99E-F8F0782922A4}"/>
              </a:ext>
            </a:extLst>
          </p:cNvPr>
          <p:cNvSpPr/>
          <p:nvPr/>
        </p:nvSpPr>
        <p:spPr>
          <a:xfrm>
            <a:off x="7717155" y="3657600"/>
            <a:ext cx="4053840" cy="2969895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Maestría en Gerencia de Proyectos</a:t>
            </a:r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Curso: Dirección de Proyectos (AGILE)</a:t>
            </a:r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Código Grupo: 202086806ª</a:t>
            </a:r>
            <a:br>
              <a:rPr lang="es-CO" sz="1400" b="1" noProof="0" dirty="0">
                <a:solidFill>
                  <a:srgbClr val="FFFFFF"/>
                </a:solidFill>
              </a:rPr>
            </a:br>
            <a:endParaRPr lang="es-CO" sz="1400" b="1" noProof="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Fase 2 – Estructura del Scrum</a:t>
            </a:r>
          </a:p>
          <a:p>
            <a:pPr marL="0" indent="0" algn="ctr">
              <a:buNone/>
            </a:pPr>
            <a:endParaRPr lang="es-CO" sz="1400" b="1" noProof="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Annie Liley Quintero Ceballos</a:t>
            </a:r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Libardo Urrea Quigua</a:t>
            </a:r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Kevin Sebastián Cubides López</a:t>
            </a:r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Julio Roberto Espitia Fernández</a:t>
            </a:r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Diego Alberto Gómez Diaz</a:t>
            </a:r>
          </a:p>
          <a:p>
            <a:pPr marL="0" indent="0" algn="ctr">
              <a:buNone/>
            </a:pPr>
            <a:endParaRPr lang="es-CO" sz="1400" b="1" noProof="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Marzo de 2026</a:t>
            </a:r>
            <a:endParaRPr lang="es-CO" sz="1400" noProof="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5BCC9108-01AC-DFD1-7936-3F457B6839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6155" y="386266"/>
            <a:ext cx="3952570" cy="2974604"/>
          </a:xfrm>
          <a:prstGeom prst="flowChartAlternateProcess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3" name="Shape 1"/>
          <p:cNvSpPr/>
          <p:nvPr/>
        </p:nvSpPr>
        <p:spPr>
          <a:xfrm>
            <a:off x="9326880" y="91440"/>
            <a:ext cx="2286000" cy="2011680"/>
          </a:xfrm>
          <a:prstGeom prst="arc">
            <a:avLst/>
          </a:prstGeom>
          <a:noFill/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182880" y="4663440"/>
            <a:ext cx="1645920" cy="1463040"/>
          </a:xfrm>
          <a:prstGeom prst="arc">
            <a:avLst/>
          </a:prstGeom>
          <a:noFill/>
          <a:ln w="12700">
            <a:solidFill>
              <a:srgbClr val="F59E0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B6C6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202086806A</a:t>
            </a:r>
            <a:endParaRPr lang="es-CO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713232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300" b="1" noProof="0" dirty="0">
                <a:solidFill>
                  <a:srgbClr val="FFFFFF"/>
                </a:solidFill>
              </a:rPr>
              <a:t>Ficha Técnica del Proyecto</a:t>
            </a:r>
            <a:endParaRPr lang="es-CO" sz="23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DCEBFF"/>
                </a:solidFill>
              </a:rPr>
              <a:t>Síntesis visual del proyecto seleccionado y su contexto operativo.</a:t>
            </a:r>
            <a:endParaRPr lang="es-CO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640080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1280160" cy="960120"/>
          </a:xfrm>
          <a:prstGeom prst="roundRect">
            <a:avLst>
              <a:gd name="adj" fmla="val 952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868680" y="2176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200" b="1" noProof="0" dirty="0">
                <a:solidFill>
                  <a:srgbClr val="0F172A"/>
                </a:solidFill>
              </a:rPr>
              <a:t>441</a:t>
            </a:r>
            <a:endParaRPr lang="es-CO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923544" y="256260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50" b="1" noProof="0" dirty="0">
                <a:solidFill>
                  <a:srgbClr val="64748B"/>
                </a:solidFill>
              </a:rPr>
              <a:t>Soluciones Fotovoltaicas</a:t>
            </a:r>
            <a:endParaRPr lang="es-CO" sz="1050" b="1" noProof="0" dirty="0"/>
          </a:p>
        </p:txBody>
      </p:sp>
      <p:sp>
        <p:nvSpPr>
          <p:cNvPr id="13" name="Shape 11"/>
          <p:cNvSpPr/>
          <p:nvPr/>
        </p:nvSpPr>
        <p:spPr>
          <a:xfrm>
            <a:off x="2423160" y="2011680"/>
            <a:ext cx="1280160" cy="960120"/>
          </a:xfrm>
          <a:prstGeom prst="roundRect">
            <a:avLst>
              <a:gd name="adj" fmla="val 9524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4" name="Text 12"/>
          <p:cNvSpPr/>
          <p:nvPr/>
        </p:nvSpPr>
        <p:spPr>
          <a:xfrm>
            <a:off x="2423160" y="2176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200" b="1" noProof="0" dirty="0">
                <a:solidFill>
                  <a:srgbClr val="0F172A"/>
                </a:solidFill>
              </a:rPr>
              <a:t>6–8</a:t>
            </a:r>
            <a:endParaRPr lang="es-CO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2478024" y="256260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50" b="1" noProof="0" dirty="0">
                <a:solidFill>
                  <a:srgbClr val="64748B"/>
                </a:solidFill>
              </a:rPr>
              <a:t>Meses De Referencia</a:t>
            </a:r>
            <a:endParaRPr lang="es-CO" sz="1050" b="1" noProof="0" dirty="0"/>
          </a:p>
        </p:txBody>
      </p:sp>
      <p:sp>
        <p:nvSpPr>
          <p:cNvPr id="16" name="Shape 14"/>
          <p:cNvSpPr/>
          <p:nvPr/>
        </p:nvSpPr>
        <p:spPr>
          <a:xfrm>
            <a:off x="3977640" y="2011680"/>
            <a:ext cx="1280160" cy="960120"/>
          </a:xfrm>
          <a:prstGeom prst="roundRect">
            <a:avLst>
              <a:gd name="adj" fmla="val 9524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3977640" y="2176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200" b="1" noProof="0" dirty="0">
                <a:solidFill>
                  <a:srgbClr val="0F172A"/>
                </a:solidFill>
              </a:rPr>
              <a:t>$12.879</a:t>
            </a:r>
            <a:endParaRPr lang="es-CO" sz="2200" noProof="0" dirty="0"/>
          </a:p>
        </p:txBody>
      </p:sp>
      <p:sp>
        <p:nvSpPr>
          <p:cNvPr id="18" name="Text 16"/>
          <p:cNvSpPr/>
          <p:nvPr/>
        </p:nvSpPr>
        <p:spPr>
          <a:xfrm>
            <a:off x="4032504" y="2562606"/>
            <a:ext cx="11704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50" b="1" noProof="0" dirty="0">
                <a:solidFill>
                  <a:srgbClr val="64748B"/>
                </a:solidFill>
              </a:rPr>
              <a:t>Millones COP Aprox.</a:t>
            </a:r>
            <a:endParaRPr lang="es-CO" sz="1050" b="1" noProof="0" dirty="0"/>
          </a:p>
        </p:txBody>
      </p:sp>
      <p:sp>
        <p:nvSpPr>
          <p:cNvPr id="19" name="Shape 17"/>
          <p:cNvSpPr/>
          <p:nvPr/>
        </p:nvSpPr>
        <p:spPr>
          <a:xfrm>
            <a:off x="5541646" y="2011680"/>
            <a:ext cx="1280160" cy="960120"/>
          </a:xfrm>
          <a:prstGeom prst="roundRect">
            <a:avLst>
              <a:gd name="adj" fmla="val 9524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Text 18"/>
          <p:cNvSpPr/>
          <p:nvPr/>
        </p:nvSpPr>
        <p:spPr>
          <a:xfrm>
            <a:off x="5532120" y="217627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2200" b="1" noProof="0" dirty="0">
                <a:solidFill>
                  <a:srgbClr val="0F172A"/>
                </a:solidFill>
              </a:rPr>
              <a:t>872</a:t>
            </a:r>
            <a:endParaRPr lang="es-CO" sz="2200" noProof="0" dirty="0"/>
          </a:p>
        </p:txBody>
      </p:sp>
      <p:sp>
        <p:nvSpPr>
          <p:cNvPr id="21" name="Text 19"/>
          <p:cNvSpPr/>
          <p:nvPr/>
        </p:nvSpPr>
        <p:spPr>
          <a:xfrm>
            <a:off x="5429250" y="2562606"/>
            <a:ext cx="1504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050" b="1" noProof="0" dirty="0">
                <a:solidFill>
                  <a:srgbClr val="64748B"/>
                </a:solidFill>
              </a:rPr>
              <a:t>Viviendas Sin Servicio </a:t>
            </a:r>
            <a:br>
              <a:rPr lang="es-CO" sz="1050" b="1" noProof="0" dirty="0">
                <a:solidFill>
                  <a:srgbClr val="64748B"/>
                </a:solidFill>
              </a:rPr>
            </a:br>
            <a:r>
              <a:rPr lang="es-CO" sz="1050" b="1" noProof="0" dirty="0">
                <a:solidFill>
                  <a:srgbClr val="64748B"/>
                </a:solidFill>
              </a:rPr>
              <a:t>(Ref. Diagnóstica)</a:t>
            </a:r>
            <a:endParaRPr lang="es-CO" sz="1050" b="1" noProof="0" dirty="0"/>
          </a:p>
        </p:txBody>
      </p:sp>
      <p:sp>
        <p:nvSpPr>
          <p:cNvPr id="22" name="Text 20"/>
          <p:cNvSpPr/>
          <p:nvPr/>
        </p:nvSpPr>
        <p:spPr>
          <a:xfrm>
            <a:off x="914400" y="3293745"/>
            <a:ext cx="5577840" cy="2569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27000" indent="-127000">
              <a:buSzPct val="100000"/>
              <a:buChar char="•"/>
            </a:pPr>
            <a:r>
              <a:rPr lang="es-CO" sz="1600" noProof="0" dirty="0">
                <a:solidFill>
                  <a:srgbClr val="0F172A"/>
                </a:solidFill>
              </a:rPr>
              <a:t>Objetivo central: aumentar el acceso a energía eléctrica en la zona rural de Argelia, Cauca.</a:t>
            </a:r>
            <a:br>
              <a:rPr lang="es-CO" sz="1600" noProof="0" dirty="0">
                <a:solidFill>
                  <a:srgbClr val="0F172A"/>
                </a:solidFill>
              </a:rPr>
            </a:br>
            <a:endParaRPr lang="es-CO" sz="1600" noProof="0" dirty="0"/>
          </a:p>
          <a:p>
            <a:pPr marL="127000" indent="-127000">
              <a:buSzPct val="100000"/>
              <a:buChar char="•"/>
            </a:pPr>
            <a:r>
              <a:rPr lang="es-CO" sz="1600" noProof="0" dirty="0">
                <a:solidFill>
                  <a:srgbClr val="0F172A"/>
                </a:solidFill>
              </a:rPr>
              <a:t>Productos esperados: sistemas SISFV autónomos, instalaciones internas, medición, capacitación e interventoría.</a:t>
            </a:r>
          </a:p>
          <a:p>
            <a:pPr>
              <a:buSzPct val="100000"/>
            </a:pPr>
            <a:endParaRPr lang="es-CO" sz="1600" noProof="0" dirty="0">
              <a:solidFill>
                <a:srgbClr val="0F172A"/>
              </a:solidFill>
            </a:endParaRPr>
          </a:p>
          <a:p>
            <a:pPr>
              <a:buSzPct val="100000"/>
            </a:pPr>
            <a:r>
              <a:rPr lang="es-CO" sz="1600" noProof="0" dirty="0">
                <a:solidFill>
                  <a:srgbClr val="0F172A"/>
                </a:solidFill>
              </a:rPr>
              <a:t>• El proyecto se justifica por la dispersión geográfica, la topografía compleja y la inviabilidad de expansión de red.
</a:t>
            </a:r>
            <a:endParaRPr lang="es-CO" sz="1600" noProof="0" dirty="0"/>
          </a:p>
          <a:p>
            <a:pPr marL="127000" indent="-127000">
              <a:buSzPct val="100000"/>
              <a:buChar char="•"/>
            </a:pPr>
            <a:r>
              <a:rPr lang="es-CO" sz="1600" noProof="0" dirty="0">
                <a:solidFill>
                  <a:srgbClr val="0F172A"/>
                </a:solidFill>
              </a:rPr>
              <a:t>La ejecución requiere coordinación por veredas, gestión logística y evidencia técnica verificable.</a:t>
            </a:r>
            <a:endParaRPr lang="es-CO" sz="1600" noProof="0" dirty="0"/>
          </a:p>
        </p:txBody>
      </p:sp>
      <p:sp>
        <p:nvSpPr>
          <p:cNvPr id="23" name="Shape 21"/>
          <p:cNvSpPr/>
          <p:nvPr/>
        </p:nvSpPr>
        <p:spPr>
          <a:xfrm>
            <a:off x="7315200" y="1645920"/>
            <a:ext cx="4610100" cy="4526280"/>
          </a:xfrm>
          <a:prstGeom prst="roundRect">
            <a:avLst>
              <a:gd name="adj" fmla="val 2637"/>
            </a:avLst>
          </a:prstGeom>
          <a:solidFill>
            <a:srgbClr val="132240"/>
          </a:solidFill>
          <a:ln w="12700">
            <a:solidFill>
              <a:srgbClr val="132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Shape 22"/>
          <p:cNvSpPr/>
          <p:nvPr/>
        </p:nvSpPr>
        <p:spPr>
          <a:xfrm>
            <a:off x="7635240" y="5742432"/>
            <a:ext cx="1234440" cy="310896"/>
          </a:xfrm>
          <a:prstGeom prst="roundRect">
            <a:avLst>
              <a:gd name="adj" fmla="val 4705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sz="3600" noProof="0" dirty="0"/>
          </a:p>
        </p:txBody>
      </p:sp>
      <p:sp>
        <p:nvSpPr>
          <p:cNvPr id="26" name="Text 23"/>
          <p:cNvSpPr/>
          <p:nvPr/>
        </p:nvSpPr>
        <p:spPr>
          <a:xfrm>
            <a:off x="7708392" y="5797296"/>
            <a:ext cx="10881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MGA</a:t>
            </a:r>
            <a:endParaRPr lang="es-CO" sz="1400" noProof="0" dirty="0"/>
          </a:p>
        </p:txBody>
      </p:sp>
      <p:sp>
        <p:nvSpPr>
          <p:cNvPr id="27" name="Shape 24"/>
          <p:cNvSpPr/>
          <p:nvPr/>
        </p:nvSpPr>
        <p:spPr>
          <a:xfrm>
            <a:off x="8988552" y="5742432"/>
            <a:ext cx="1463040" cy="310896"/>
          </a:xfrm>
          <a:prstGeom prst="roundRect">
            <a:avLst>
              <a:gd name="adj" fmla="val 4705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sz="3600" noProof="0" dirty="0"/>
          </a:p>
        </p:txBody>
      </p:sp>
      <p:sp>
        <p:nvSpPr>
          <p:cNvPr id="28" name="Text 25"/>
          <p:cNvSpPr/>
          <p:nvPr/>
        </p:nvSpPr>
        <p:spPr>
          <a:xfrm>
            <a:off x="9061704" y="5797296"/>
            <a:ext cx="13167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Proyecto Tipo</a:t>
            </a:r>
            <a:endParaRPr lang="es-CO" sz="1400" noProof="0" dirty="0"/>
          </a:p>
        </p:txBody>
      </p:sp>
      <p:sp>
        <p:nvSpPr>
          <p:cNvPr id="29" name="Shape 26"/>
          <p:cNvSpPr/>
          <p:nvPr/>
        </p:nvSpPr>
        <p:spPr>
          <a:xfrm>
            <a:off x="10588752" y="5742432"/>
            <a:ext cx="749808" cy="310896"/>
          </a:xfrm>
          <a:prstGeom prst="roundRect">
            <a:avLst>
              <a:gd name="adj" fmla="val 4705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 sz="3600" noProof="0" dirty="0"/>
          </a:p>
        </p:txBody>
      </p:sp>
      <p:sp>
        <p:nvSpPr>
          <p:cNvPr id="30" name="Text 27"/>
          <p:cNvSpPr/>
          <p:nvPr/>
        </p:nvSpPr>
        <p:spPr>
          <a:xfrm>
            <a:off x="10661904" y="5797296"/>
            <a:ext cx="603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ZNI</a:t>
            </a:r>
            <a:endParaRPr lang="es-CO" sz="1400" noProof="0" dirty="0"/>
          </a:p>
        </p:txBody>
      </p:sp>
      <p:sp>
        <p:nvSpPr>
          <p:cNvPr id="86" name="TextBox 5">
            <a:extLst>
              <a:ext uri="{FF2B5EF4-FFF2-40B4-BE49-F238E27FC236}">
                <a16:creationId xmlns:a16="http://schemas.microsoft.com/office/drawing/2014/main" id="{9643CC52-CBD7-D03C-E4A7-1F7E85FAFC8A}"/>
              </a:ext>
            </a:extLst>
          </p:cNvPr>
          <p:cNvSpPr txBox="1"/>
          <p:nvPr/>
        </p:nvSpPr>
        <p:spPr>
          <a:xfrm>
            <a:off x="7423485" y="2411160"/>
            <a:ext cx="92467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CO" sz="120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Característica</a:t>
            </a:r>
          </a:p>
        </p:txBody>
      </p:sp>
      <p:sp>
        <p:nvSpPr>
          <p:cNvPr id="87" name="TextBox 6">
            <a:extLst>
              <a:ext uri="{FF2B5EF4-FFF2-40B4-BE49-F238E27FC236}">
                <a16:creationId xmlns:a16="http://schemas.microsoft.com/office/drawing/2014/main" id="{D1DCCECB-ABCA-EFA8-C976-DAEF4B9B9C0D}"/>
              </a:ext>
            </a:extLst>
          </p:cNvPr>
          <p:cNvSpPr txBox="1"/>
          <p:nvPr/>
        </p:nvSpPr>
        <p:spPr>
          <a:xfrm>
            <a:off x="8698874" y="2414983"/>
            <a:ext cx="54995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Objetivo</a:t>
            </a:r>
          </a:p>
        </p:txBody>
      </p:sp>
      <p:sp>
        <p:nvSpPr>
          <p:cNvPr id="88" name="TextBox 7">
            <a:extLst>
              <a:ext uri="{FF2B5EF4-FFF2-40B4-BE49-F238E27FC236}">
                <a16:creationId xmlns:a16="http://schemas.microsoft.com/office/drawing/2014/main" id="{DB0DE2FF-C759-59C5-FF6A-7B9E59BD8BD4}"/>
              </a:ext>
            </a:extLst>
          </p:cNvPr>
          <p:cNvSpPr txBox="1"/>
          <p:nvPr/>
        </p:nvSpPr>
        <p:spPr>
          <a:xfrm>
            <a:off x="9615133" y="2414983"/>
            <a:ext cx="831126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Financiación</a:t>
            </a:r>
          </a:p>
        </p:txBody>
      </p:sp>
      <p:sp>
        <p:nvSpPr>
          <p:cNvPr id="89" name="TextBox 8">
            <a:extLst>
              <a:ext uri="{FF2B5EF4-FFF2-40B4-BE49-F238E27FC236}">
                <a16:creationId xmlns:a16="http://schemas.microsoft.com/office/drawing/2014/main" id="{6405C77E-5314-2BF2-34AB-3EDECD59663D}"/>
              </a:ext>
            </a:extLst>
          </p:cNvPr>
          <p:cNvSpPr txBox="1"/>
          <p:nvPr/>
        </p:nvSpPr>
        <p:spPr>
          <a:xfrm>
            <a:off x="10723972" y="2414983"/>
            <a:ext cx="816570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Justificación</a:t>
            </a:r>
          </a:p>
        </p:txBody>
      </p:sp>
      <p:sp>
        <p:nvSpPr>
          <p:cNvPr id="90" name="Rounded Rectangle 15">
            <a:extLst>
              <a:ext uri="{FF2B5EF4-FFF2-40B4-BE49-F238E27FC236}">
                <a16:creationId xmlns:a16="http://schemas.microsoft.com/office/drawing/2014/main" id="{88138110-667E-460D-5E61-C005A7395C0D}"/>
              </a:ext>
            </a:extLst>
          </p:cNvPr>
          <p:cNvSpPr/>
          <p:nvPr/>
        </p:nvSpPr>
        <p:spPr>
          <a:xfrm>
            <a:off x="10938996" y="1943621"/>
            <a:ext cx="360000" cy="360000"/>
          </a:xfrm>
          <a:custGeom>
            <a:avLst/>
            <a:gdLst/>
            <a:ahLst/>
            <a:cxnLst/>
            <a:rect l="0" t="0" r="0" b="0"/>
            <a:pathLst>
              <a:path w="183373" h="150033">
                <a:moveTo>
                  <a:pt x="91686" y="25005"/>
                </a:moveTo>
                <a:lnTo>
                  <a:pt x="91686" y="150033"/>
                </a:lnTo>
                <a:moveTo>
                  <a:pt x="67356" y="150033"/>
                </a:moveTo>
                <a:lnTo>
                  <a:pt x="115792" y="150033"/>
                </a:lnTo>
                <a:moveTo>
                  <a:pt x="8" y="74999"/>
                </a:moveTo>
                <a:lnTo>
                  <a:pt x="29173" y="8335"/>
                </a:lnTo>
                <a:lnTo>
                  <a:pt x="58237" y="74999"/>
                </a:lnTo>
                <a:moveTo>
                  <a:pt x="79892" y="8335"/>
                </a:moveTo>
                <a:lnTo>
                  <a:pt x="16670" y="8335"/>
                </a:lnTo>
                <a:moveTo>
                  <a:pt x="58346" y="75016"/>
                </a:moveTo>
                <a:cubicBezTo>
                  <a:pt x="58346" y="91128"/>
                  <a:pt x="45284" y="104189"/>
                  <a:pt x="29173" y="104189"/>
                </a:cubicBezTo>
                <a:cubicBezTo>
                  <a:pt x="13061" y="104189"/>
                  <a:pt x="0" y="91128"/>
                  <a:pt x="0" y="75016"/>
                </a:cubicBezTo>
                <a:close/>
                <a:moveTo>
                  <a:pt x="183365" y="74999"/>
                </a:moveTo>
                <a:lnTo>
                  <a:pt x="154200" y="8335"/>
                </a:lnTo>
                <a:lnTo>
                  <a:pt x="125136" y="74999"/>
                </a:lnTo>
                <a:moveTo>
                  <a:pt x="103481" y="8335"/>
                </a:moveTo>
                <a:lnTo>
                  <a:pt x="166703" y="8335"/>
                </a:lnTo>
                <a:moveTo>
                  <a:pt x="125027" y="75016"/>
                </a:moveTo>
                <a:cubicBezTo>
                  <a:pt x="125027" y="91128"/>
                  <a:pt x="138088" y="104189"/>
                  <a:pt x="154200" y="104189"/>
                </a:cubicBezTo>
                <a:cubicBezTo>
                  <a:pt x="170312" y="104189"/>
                  <a:pt x="183373" y="91128"/>
                  <a:pt x="183373" y="75016"/>
                </a:cubicBezTo>
                <a:close/>
                <a:moveTo>
                  <a:pt x="79184" y="12502"/>
                </a:moveTo>
                <a:cubicBezTo>
                  <a:pt x="79184" y="19407"/>
                  <a:pt x="84781" y="25005"/>
                  <a:pt x="91686" y="25005"/>
                </a:cubicBezTo>
                <a:cubicBezTo>
                  <a:pt x="98592" y="25005"/>
                  <a:pt x="104189" y="19407"/>
                  <a:pt x="104189" y="12502"/>
                </a:cubicBezTo>
                <a:cubicBezTo>
                  <a:pt x="104189" y="5597"/>
                  <a:pt x="98592" y="0"/>
                  <a:pt x="91686" y="0"/>
                </a:cubicBezTo>
                <a:cubicBezTo>
                  <a:pt x="84781" y="0"/>
                  <a:pt x="79184" y="5597"/>
                  <a:pt x="79184" y="12502"/>
                </a:cubicBezTo>
                <a:close/>
              </a:path>
            </a:pathLst>
          </a:cu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lang="es-CO" sz="3200" noProof="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1" name="Rounded Rectangle 16">
            <a:extLst>
              <a:ext uri="{FF2B5EF4-FFF2-40B4-BE49-F238E27FC236}">
                <a16:creationId xmlns:a16="http://schemas.microsoft.com/office/drawing/2014/main" id="{C7B47E5D-EA73-319E-1D47-E937579BC0A2}"/>
              </a:ext>
            </a:extLst>
          </p:cNvPr>
          <p:cNvSpPr/>
          <p:nvPr/>
        </p:nvSpPr>
        <p:spPr>
          <a:xfrm>
            <a:off x="9851973" y="1931118"/>
            <a:ext cx="360000" cy="360000"/>
          </a:xfrm>
          <a:custGeom>
            <a:avLst/>
            <a:gdLst/>
            <a:ahLst/>
            <a:cxnLst/>
            <a:rect l="0" t="0" r="0" b="0"/>
            <a:pathLst>
              <a:path w="154200" h="175113">
                <a:moveTo>
                  <a:pt x="0" y="91686"/>
                </a:moveTo>
                <a:lnTo>
                  <a:pt x="25005" y="91686"/>
                </a:lnTo>
                <a:cubicBezTo>
                  <a:pt x="26132" y="91612"/>
                  <a:pt x="27235" y="92027"/>
                  <a:pt x="28034" y="92825"/>
                </a:cubicBezTo>
                <a:cubicBezTo>
                  <a:pt x="28832" y="93624"/>
                  <a:pt x="29247" y="94728"/>
                  <a:pt x="29173" y="95854"/>
                </a:cubicBezTo>
                <a:lnTo>
                  <a:pt x="29173" y="170871"/>
                </a:lnTo>
                <a:cubicBezTo>
                  <a:pt x="29247" y="171997"/>
                  <a:pt x="28832" y="173101"/>
                  <a:pt x="28034" y="173899"/>
                </a:cubicBezTo>
                <a:cubicBezTo>
                  <a:pt x="27235" y="174698"/>
                  <a:pt x="26132" y="175113"/>
                  <a:pt x="25005" y="175038"/>
                </a:cubicBezTo>
                <a:lnTo>
                  <a:pt x="0" y="175038"/>
                </a:lnTo>
                <a:moveTo>
                  <a:pt x="63597" y="80601"/>
                </a:moveTo>
                <a:lnTo>
                  <a:pt x="47927" y="100022"/>
                </a:lnTo>
                <a:cubicBezTo>
                  <a:pt x="45903" y="102577"/>
                  <a:pt x="42850" y="104103"/>
                  <a:pt x="39592" y="104189"/>
                </a:cubicBezTo>
                <a:lnTo>
                  <a:pt x="29173" y="104189"/>
                </a:lnTo>
                <a:moveTo>
                  <a:pt x="29173" y="154200"/>
                </a:moveTo>
                <a:cubicBezTo>
                  <a:pt x="45843" y="166703"/>
                  <a:pt x="63097" y="175038"/>
                  <a:pt x="72932" y="175038"/>
                </a:cubicBezTo>
                <a:lnTo>
                  <a:pt x="133362" y="175038"/>
                </a:lnTo>
                <a:cubicBezTo>
                  <a:pt x="139447" y="175038"/>
                  <a:pt x="143198" y="174622"/>
                  <a:pt x="145865" y="166703"/>
                </a:cubicBezTo>
                <a:cubicBezTo>
                  <a:pt x="149840" y="147444"/>
                  <a:pt x="152624" y="127958"/>
                  <a:pt x="154200" y="108357"/>
                </a:cubicBezTo>
                <a:cubicBezTo>
                  <a:pt x="154200" y="104189"/>
                  <a:pt x="150033" y="100022"/>
                  <a:pt x="141698" y="100022"/>
                </a:cubicBezTo>
                <a:lnTo>
                  <a:pt x="75016" y="100022"/>
                </a:lnTo>
                <a:moveTo>
                  <a:pt x="64597" y="87519"/>
                </a:moveTo>
                <a:lnTo>
                  <a:pt x="52845" y="4751"/>
                </a:lnTo>
                <a:cubicBezTo>
                  <a:pt x="52641" y="3558"/>
                  <a:pt x="52977" y="2337"/>
                  <a:pt x="53761" y="1416"/>
                </a:cubicBezTo>
                <a:cubicBezTo>
                  <a:pt x="54574" y="524"/>
                  <a:pt x="55722" y="10"/>
                  <a:pt x="56929" y="0"/>
                </a:cubicBezTo>
                <a:lnTo>
                  <a:pt x="114608" y="0"/>
                </a:lnTo>
                <a:moveTo>
                  <a:pt x="85435" y="100022"/>
                </a:moveTo>
                <a:lnTo>
                  <a:pt x="77600" y="21254"/>
                </a:lnTo>
                <a:cubicBezTo>
                  <a:pt x="77455" y="20063"/>
                  <a:pt x="77853" y="18870"/>
                  <a:pt x="78684" y="18003"/>
                </a:cubicBezTo>
                <a:cubicBezTo>
                  <a:pt x="79485" y="17154"/>
                  <a:pt x="80600" y="16672"/>
                  <a:pt x="81768" y="16670"/>
                </a:cubicBezTo>
                <a:lnTo>
                  <a:pt x="149366" y="16670"/>
                </a:lnTo>
                <a:cubicBezTo>
                  <a:pt x="150573" y="16681"/>
                  <a:pt x="151721" y="17194"/>
                  <a:pt x="152533" y="18087"/>
                </a:cubicBezTo>
                <a:cubicBezTo>
                  <a:pt x="153317" y="19008"/>
                  <a:pt x="153653" y="20229"/>
                  <a:pt x="153450" y="21421"/>
                </a:cubicBezTo>
                <a:lnTo>
                  <a:pt x="141698" y="100022"/>
                </a:lnTo>
                <a:moveTo>
                  <a:pt x="105106" y="60430"/>
                </a:moveTo>
                <a:cubicBezTo>
                  <a:pt x="105106" y="54675"/>
                  <a:pt x="109771" y="50011"/>
                  <a:pt x="115525" y="50011"/>
                </a:cubicBezTo>
                <a:cubicBezTo>
                  <a:pt x="121279" y="50011"/>
                  <a:pt x="125944" y="54675"/>
                  <a:pt x="125944" y="60430"/>
                </a:cubicBezTo>
                <a:cubicBezTo>
                  <a:pt x="125944" y="66184"/>
                  <a:pt x="121279" y="70849"/>
                  <a:pt x="115525" y="70849"/>
                </a:cubicBezTo>
                <a:cubicBezTo>
                  <a:pt x="109771" y="70849"/>
                  <a:pt x="105106" y="66184"/>
                  <a:pt x="105106" y="60430"/>
                </a:cubicBezTo>
              </a:path>
            </a:pathLst>
          </a:cu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lang="es-CO" sz="3200" noProof="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2" name="Rounded Rectangle 17">
            <a:extLst>
              <a:ext uri="{FF2B5EF4-FFF2-40B4-BE49-F238E27FC236}">
                <a16:creationId xmlns:a16="http://schemas.microsoft.com/office/drawing/2014/main" id="{64A77ADB-3E33-CF85-A491-A8BB7E16F2DC}"/>
              </a:ext>
            </a:extLst>
          </p:cNvPr>
          <p:cNvSpPr/>
          <p:nvPr/>
        </p:nvSpPr>
        <p:spPr>
          <a:xfrm>
            <a:off x="8780579" y="1926934"/>
            <a:ext cx="360000" cy="360000"/>
          </a:xfrm>
          <a:custGeom>
            <a:avLst/>
            <a:gdLst/>
            <a:ahLst/>
            <a:cxnLst/>
            <a:rect l="0" t="0" r="0" b="0"/>
            <a:pathLst>
              <a:path w="183373" h="183373">
                <a:moveTo>
                  <a:pt x="25005" y="91686"/>
                </a:moveTo>
                <a:cubicBezTo>
                  <a:pt x="25005" y="128514"/>
                  <a:pt x="54859" y="158368"/>
                  <a:pt x="91686" y="158368"/>
                </a:cubicBezTo>
                <a:cubicBezTo>
                  <a:pt x="128514" y="158368"/>
                  <a:pt x="158368" y="128514"/>
                  <a:pt x="158368" y="91686"/>
                </a:cubicBezTo>
                <a:cubicBezTo>
                  <a:pt x="158368" y="54859"/>
                  <a:pt x="128514" y="25005"/>
                  <a:pt x="91686" y="25005"/>
                </a:cubicBezTo>
                <a:cubicBezTo>
                  <a:pt x="54859" y="25005"/>
                  <a:pt x="25005" y="54859"/>
                  <a:pt x="25005" y="91686"/>
                </a:cubicBezTo>
                <a:close/>
                <a:moveTo>
                  <a:pt x="91686" y="0"/>
                </a:moveTo>
                <a:lnTo>
                  <a:pt x="91686" y="50011"/>
                </a:lnTo>
                <a:moveTo>
                  <a:pt x="0" y="91686"/>
                </a:moveTo>
                <a:lnTo>
                  <a:pt x="50011" y="91686"/>
                </a:lnTo>
                <a:moveTo>
                  <a:pt x="91686" y="183373"/>
                </a:moveTo>
                <a:lnTo>
                  <a:pt x="91686" y="133362"/>
                </a:lnTo>
                <a:moveTo>
                  <a:pt x="183373" y="91686"/>
                </a:moveTo>
                <a:lnTo>
                  <a:pt x="133362" y="91686"/>
                </a:lnTo>
              </a:path>
            </a:pathLst>
          </a:cu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lang="es-CO" sz="3200" noProof="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3" name="TextBox 21">
            <a:extLst>
              <a:ext uri="{FF2B5EF4-FFF2-40B4-BE49-F238E27FC236}">
                <a16:creationId xmlns:a16="http://schemas.microsoft.com/office/drawing/2014/main" id="{12BA254C-2AB7-4C21-B2F3-FECDBC09B829}"/>
              </a:ext>
            </a:extLst>
          </p:cNvPr>
          <p:cNvSpPr txBox="1"/>
          <p:nvPr/>
        </p:nvSpPr>
        <p:spPr>
          <a:xfrm>
            <a:off x="7423485" y="3061343"/>
            <a:ext cx="787075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s-CO" sz="120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Descripción</a:t>
            </a:r>
          </a:p>
        </p:txBody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EB7A9181-86CB-DD0E-8EB9-B88F731C1527}"/>
              </a:ext>
            </a:extLst>
          </p:cNvPr>
          <p:cNvSpPr txBox="1"/>
          <p:nvPr/>
        </p:nvSpPr>
        <p:spPr>
          <a:xfrm>
            <a:off x="8432048" y="2798106"/>
            <a:ext cx="977128" cy="807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050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Aumentar el acceso
a la energía
eléctrica en zonas
rurales</a:t>
            </a:r>
          </a:p>
        </p:txBody>
      </p:sp>
      <p:sp>
        <p:nvSpPr>
          <p:cNvPr id="95" name="TextBox 23">
            <a:extLst>
              <a:ext uri="{FF2B5EF4-FFF2-40B4-BE49-F238E27FC236}">
                <a16:creationId xmlns:a16="http://schemas.microsoft.com/office/drawing/2014/main" id="{0BC43F5A-D716-B91B-4356-DC138B450293}"/>
              </a:ext>
            </a:extLst>
          </p:cNvPr>
          <p:cNvSpPr txBox="1"/>
          <p:nvPr/>
        </p:nvSpPr>
        <p:spPr>
          <a:xfrm>
            <a:off x="9517754" y="2767626"/>
            <a:ext cx="1038749" cy="9694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050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MGA por la entidad
territorial, apoyo del
Ministerio de Minas
y Energía</a:t>
            </a:r>
          </a:p>
        </p:txBody>
      </p:sp>
      <p:sp>
        <p:nvSpPr>
          <p:cNvPr id="96" name="TextBox 24">
            <a:extLst>
              <a:ext uri="{FF2B5EF4-FFF2-40B4-BE49-F238E27FC236}">
                <a16:creationId xmlns:a16="http://schemas.microsoft.com/office/drawing/2014/main" id="{FF1BF965-4CA4-0759-0ABE-268FDCDE5C95}"/>
              </a:ext>
            </a:extLst>
          </p:cNvPr>
          <p:cNvSpPr txBox="1"/>
          <p:nvPr/>
        </p:nvSpPr>
        <p:spPr>
          <a:xfrm>
            <a:off x="10689336" y="2848117"/>
            <a:ext cx="989550" cy="6463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050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Acceso limitado a la
energía, costos de
red elevados</a:t>
            </a:r>
          </a:p>
        </p:txBody>
      </p:sp>
      <p:cxnSp>
        <p:nvCxnSpPr>
          <p:cNvPr id="98" name="Conector recto 97">
            <a:extLst>
              <a:ext uri="{FF2B5EF4-FFF2-40B4-BE49-F238E27FC236}">
                <a16:creationId xmlns:a16="http://schemas.microsoft.com/office/drawing/2014/main" id="{7F990AAA-D367-EF22-C9AB-1E0288CD38F7}"/>
              </a:ext>
            </a:extLst>
          </p:cNvPr>
          <p:cNvCxnSpPr/>
          <p:nvPr/>
        </p:nvCxnSpPr>
        <p:spPr>
          <a:xfrm>
            <a:off x="7454197" y="3794760"/>
            <a:ext cx="4280603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">
            <a:extLst>
              <a:ext uri="{FF2B5EF4-FFF2-40B4-BE49-F238E27FC236}">
                <a16:creationId xmlns:a16="http://schemas.microsoft.com/office/drawing/2014/main" id="{BDD2FF2A-7431-310B-7E99-F51645AF1D08}"/>
              </a:ext>
            </a:extLst>
          </p:cNvPr>
          <p:cNvSpPr txBox="1"/>
          <p:nvPr/>
        </p:nvSpPr>
        <p:spPr>
          <a:xfrm>
            <a:off x="7644603" y="4488973"/>
            <a:ext cx="72616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Soluciones</a:t>
            </a:r>
          </a:p>
        </p:txBody>
      </p:sp>
      <p:sp>
        <p:nvSpPr>
          <p:cNvPr id="100" name="TextBox 10">
            <a:extLst>
              <a:ext uri="{FF2B5EF4-FFF2-40B4-BE49-F238E27FC236}">
                <a16:creationId xmlns:a16="http://schemas.microsoft.com/office/drawing/2014/main" id="{5AD0CCDC-CD4C-DD2A-BDD5-A5B46AFA7AF0}"/>
              </a:ext>
            </a:extLst>
          </p:cNvPr>
          <p:cNvSpPr txBox="1"/>
          <p:nvPr/>
        </p:nvSpPr>
        <p:spPr>
          <a:xfrm>
            <a:off x="8679670" y="4488973"/>
            <a:ext cx="809773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Cronograma</a:t>
            </a:r>
          </a:p>
        </p:txBody>
      </p:sp>
      <p:sp>
        <p:nvSpPr>
          <p:cNvPr id="101" name="TextBox 11">
            <a:extLst>
              <a:ext uri="{FF2B5EF4-FFF2-40B4-BE49-F238E27FC236}">
                <a16:creationId xmlns:a16="http://schemas.microsoft.com/office/drawing/2014/main" id="{9E51712C-ED6C-1BC6-2ACD-86CBC9F8939E}"/>
              </a:ext>
            </a:extLst>
          </p:cNvPr>
          <p:cNvSpPr txBox="1"/>
          <p:nvPr/>
        </p:nvSpPr>
        <p:spPr>
          <a:xfrm>
            <a:off x="9975538" y="4488973"/>
            <a:ext cx="390684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Costo</a:t>
            </a:r>
          </a:p>
        </p:txBody>
      </p:sp>
      <p:sp>
        <p:nvSpPr>
          <p:cNvPr id="102" name="TextBox 12">
            <a:extLst>
              <a:ext uri="{FF2B5EF4-FFF2-40B4-BE49-F238E27FC236}">
                <a16:creationId xmlns:a16="http://schemas.microsoft.com/office/drawing/2014/main" id="{B94B01D1-F1DA-28A9-088F-D85D9F90E772}"/>
              </a:ext>
            </a:extLst>
          </p:cNvPr>
          <p:cNvSpPr txBox="1"/>
          <p:nvPr/>
        </p:nvSpPr>
        <p:spPr>
          <a:xfrm>
            <a:off x="10851266" y="4488973"/>
            <a:ext cx="646011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s-CO" sz="120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Selección</a:t>
            </a:r>
          </a:p>
        </p:txBody>
      </p:sp>
      <p:sp>
        <p:nvSpPr>
          <p:cNvPr id="103" name="Rounded Rectangle 13">
            <a:extLst>
              <a:ext uri="{FF2B5EF4-FFF2-40B4-BE49-F238E27FC236}">
                <a16:creationId xmlns:a16="http://schemas.microsoft.com/office/drawing/2014/main" id="{CB522EB4-C2F9-A65B-6B82-DD209AD9C03B}"/>
              </a:ext>
            </a:extLst>
          </p:cNvPr>
          <p:cNvSpPr/>
          <p:nvPr/>
        </p:nvSpPr>
        <p:spPr>
          <a:xfrm>
            <a:off x="8889187" y="4001766"/>
            <a:ext cx="360000" cy="360000"/>
          </a:xfrm>
          <a:custGeom>
            <a:avLst/>
            <a:gdLst/>
            <a:ahLst/>
            <a:cxnLst/>
            <a:rect l="0" t="0" r="0" b="0"/>
            <a:pathLst>
              <a:path w="187541" h="181723">
                <a:moveTo>
                  <a:pt x="49560" y="24780"/>
                </a:moveTo>
                <a:lnTo>
                  <a:pt x="4134" y="24780"/>
                </a:lnTo>
                <a:cubicBezTo>
                  <a:pt x="1650" y="24780"/>
                  <a:pt x="0" y="23130"/>
                  <a:pt x="0" y="20646"/>
                </a:cubicBezTo>
                <a:lnTo>
                  <a:pt x="0" y="4125"/>
                </a:lnTo>
                <a:cubicBezTo>
                  <a:pt x="0" y="1650"/>
                  <a:pt x="1650" y="0"/>
                  <a:pt x="4134" y="0"/>
                </a:cubicBezTo>
                <a:lnTo>
                  <a:pt x="49560" y="0"/>
                </a:lnTo>
                <a:cubicBezTo>
                  <a:pt x="52044" y="0"/>
                  <a:pt x="53695" y="1650"/>
                  <a:pt x="53695" y="4125"/>
                </a:cubicBezTo>
                <a:lnTo>
                  <a:pt x="53695" y="20646"/>
                </a:lnTo>
                <a:cubicBezTo>
                  <a:pt x="53695" y="22296"/>
                  <a:pt x="52044" y="24780"/>
                  <a:pt x="49560" y="24780"/>
                </a:cubicBezTo>
                <a:close/>
                <a:moveTo>
                  <a:pt x="124685" y="49560"/>
                </a:moveTo>
                <a:lnTo>
                  <a:pt x="58596" y="49560"/>
                </a:lnTo>
                <a:cubicBezTo>
                  <a:pt x="56120" y="49560"/>
                  <a:pt x="54470" y="47910"/>
                  <a:pt x="54470" y="45426"/>
                </a:cubicBezTo>
                <a:lnTo>
                  <a:pt x="54470" y="28906"/>
                </a:lnTo>
                <a:cubicBezTo>
                  <a:pt x="54470" y="26430"/>
                  <a:pt x="56120" y="24780"/>
                  <a:pt x="58596" y="24780"/>
                </a:cubicBezTo>
                <a:lnTo>
                  <a:pt x="124685" y="24780"/>
                </a:lnTo>
                <a:cubicBezTo>
                  <a:pt x="127161" y="24780"/>
                  <a:pt x="128811" y="26430"/>
                  <a:pt x="128811" y="28906"/>
                </a:cubicBezTo>
                <a:lnTo>
                  <a:pt x="128811" y="45435"/>
                </a:lnTo>
                <a:cubicBezTo>
                  <a:pt x="128811" y="47093"/>
                  <a:pt x="127161" y="49569"/>
                  <a:pt x="124685" y="49569"/>
                </a:cubicBezTo>
                <a:close/>
                <a:moveTo>
                  <a:pt x="183415" y="74341"/>
                </a:moveTo>
                <a:lnTo>
                  <a:pt x="133846" y="74341"/>
                </a:lnTo>
                <a:cubicBezTo>
                  <a:pt x="131370" y="74341"/>
                  <a:pt x="129720" y="72691"/>
                  <a:pt x="129720" y="70215"/>
                </a:cubicBezTo>
                <a:lnTo>
                  <a:pt x="129720" y="53686"/>
                </a:lnTo>
                <a:cubicBezTo>
                  <a:pt x="129720" y="51211"/>
                  <a:pt x="131370" y="49560"/>
                  <a:pt x="133846" y="49560"/>
                </a:cubicBezTo>
                <a:lnTo>
                  <a:pt x="183415" y="49560"/>
                </a:lnTo>
                <a:cubicBezTo>
                  <a:pt x="185891" y="49560"/>
                  <a:pt x="187541" y="51211"/>
                  <a:pt x="187541" y="53686"/>
                </a:cubicBezTo>
                <a:lnTo>
                  <a:pt x="187541" y="70215"/>
                </a:lnTo>
                <a:cubicBezTo>
                  <a:pt x="187541" y="71865"/>
                  <a:pt x="185891" y="74341"/>
                  <a:pt x="183415" y="74341"/>
                </a:cubicBezTo>
                <a:close/>
                <a:moveTo>
                  <a:pt x="103256" y="115642"/>
                </a:moveTo>
                <a:lnTo>
                  <a:pt x="20654" y="115642"/>
                </a:lnTo>
                <a:cubicBezTo>
                  <a:pt x="18170" y="115642"/>
                  <a:pt x="16520" y="113991"/>
                  <a:pt x="16520" y="111516"/>
                </a:cubicBezTo>
                <a:lnTo>
                  <a:pt x="16520" y="94996"/>
                </a:lnTo>
                <a:cubicBezTo>
                  <a:pt x="16520" y="92512"/>
                  <a:pt x="18170" y="90861"/>
                  <a:pt x="20654" y="90861"/>
                </a:cubicBezTo>
                <a:lnTo>
                  <a:pt x="103256" y="90861"/>
                </a:lnTo>
                <a:cubicBezTo>
                  <a:pt x="105731" y="90861"/>
                  <a:pt x="107390" y="92512"/>
                  <a:pt x="107390" y="94987"/>
                </a:cubicBezTo>
                <a:lnTo>
                  <a:pt x="107390" y="111516"/>
                </a:lnTo>
                <a:cubicBezTo>
                  <a:pt x="107390" y="113166"/>
                  <a:pt x="105731" y="115642"/>
                  <a:pt x="103256" y="115642"/>
                </a:cubicBezTo>
                <a:close/>
                <a:moveTo>
                  <a:pt x="182507" y="140422"/>
                </a:moveTo>
                <a:lnTo>
                  <a:pt x="112291" y="140422"/>
                </a:lnTo>
                <a:cubicBezTo>
                  <a:pt x="109815" y="140422"/>
                  <a:pt x="108165" y="138772"/>
                  <a:pt x="108165" y="136296"/>
                </a:cubicBezTo>
                <a:lnTo>
                  <a:pt x="108165" y="119776"/>
                </a:lnTo>
                <a:cubicBezTo>
                  <a:pt x="108165" y="117292"/>
                  <a:pt x="109815" y="115642"/>
                  <a:pt x="112291" y="115642"/>
                </a:cubicBezTo>
                <a:lnTo>
                  <a:pt x="182507" y="115642"/>
                </a:lnTo>
                <a:cubicBezTo>
                  <a:pt x="184982" y="115642"/>
                  <a:pt x="186641" y="117292"/>
                  <a:pt x="186641" y="119776"/>
                </a:cubicBezTo>
                <a:lnTo>
                  <a:pt x="186641" y="136296"/>
                </a:lnTo>
                <a:cubicBezTo>
                  <a:pt x="186641" y="137947"/>
                  <a:pt x="184982" y="140422"/>
                  <a:pt x="182507" y="140422"/>
                </a:cubicBezTo>
                <a:close/>
                <a:moveTo>
                  <a:pt x="61955" y="181723"/>
                </a:moveTo>
                <a:lnTo>
                  <a:pt x="20654" y="181723"/>
                </a:lnTo>
                <a:cubicBezTo>
                  <a:pt x="18170" y="181723"/>
                  <a:pt x="16520" y="180073"/>
                  <a:pt x="16520" y="177597"/>
                </a:cubicBezTo>
                <a:lnTo>
                  <a:pt x="16520" y="161077"/>
                </a:lnTo>
                <a:cubicBezTo>
                  <a:pt x="16520" y="158593"/>
                  <a:pt x="18170" y="156943"/>
                  <a:pt x="20654" y="156943"/>
                </a:cubicBezTo>
                <a:lnTo>
                  <a:pt x="61955" y="156943"/>
                </a:lnTo>
                <a:cubicBezTo>
                  <a:pt x="64430" y="156943"/>
                  <a:pt x="66081" y="158593"/>
                  <a:pt x="66081" y="161077"/>
                </a:cubicBezTo>
                <a:lnTo>
                  <a:pt x="66081" y="177597"/>
                </a:lnTo>
                <a:cubicBezTo>
                  <a:pt x="66081" y="179248"/>
                  <a:pt x="64430" y="181723"/>
                  <a:pt x="61955" y="181723"/>
                </a:cubicBezTo>
                <a:close/>
              </a:path>
            </a:pathLst>
          </a:cu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lang="es-CO" sz="3200" noProof="0" dirty="0">
              <a:solidFill>
                <a:schemeClr val="accent1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04" name="Rounded Rectangle 14">
            <a:extLst>
              <a:ext uri="{FF2B5EF4-FFF2-40B4-BE49-F238E27FC236}">
                <a16:creationId xmlns:a16="http://schemas.microsoft.com/office/drawing/2014/main" id="{C3E1C89E-45AA-25EE-2CE4-42F2AA9876AE}"/>
              </a:ext>
            </a:extLst>
          </p:cNvPr>
          <p:cNvSpPr/>
          <p:nvPr/>
        </p:nvSpPr>
        <p:spPr>
          <a:xfrm>
            <a:off x="7812910" y="3997990"/>
            <a:ext cx="360000" cy="360000"/>
          </a:xfrm>
          <a:custGeom>
            <a:avLst/>
            <a:gdLst/>
            <a:ahLst/>
            <a:cxnLst/>
            <a:rect l="0" t="0" r="0" b="0"/>
            <a:pathLst>
              <a:path w="186456" h="197786">
                <a:moveTo>
                  <a:pt x="135705" y="94555"/>
                </a:moveTo>
                <a:cubicBezTo>
                  <a:pt x="129097" y="88224"/>
                  <a:pt x="128674" y="77802"/>
                  <a:pt x="134748" y="70957"/>
                </a:cubicBezTo>
                <a:cubicBezTo>
                  <a:pt x="140822" y="64112"/>
                  <a:pt x="151221" y="63291"/>
                  <a:pt x="158293" y="69099"/>
                </a:cubicBezTo>
                <a:cubicBezTo>
                  <a:pt x="158794" y="69542"/>
                  <a:pt x="159267" y="70015"/>
                  <a:pt x="159710" y="70516"/>
                </a:cubicBezTo>
                <a:cubicBezTo>
                  <a:pt x="161398" y="72203"/>
                  <a:pt x="162728" y="74213"/>
                  <a:pt x="163619" y="76426"/>
                </a:cubicBezTo>
                <a:cubicBezTo>
                  <a:pt x="164157" y="77784"/>
                  <a:pt x="165335" y="78787"/>
                  <a:pt x="166761" y="79102"/>
                </a:cubicBezTo>
                <a:cubicBezTo>
                  <a:pt x="168186" y="79426"/>
                  <a:pt x="169677" y="78998"/>
                  <a:pt x="170712" y="77968"/>
                </a:cubicBezTo>
                <a:lnTo>
                  <a:pt x="183982" y="64632"/>
                </a:lnTo>
                <a:cubicBezTo>
                  <a:pt x="185575" y="63005"/>
                  <a:pt x="186456" y="60812"/>
                  <a:pt x="186431" y="58536"/>
                </a:cubicBezTo>
                <a:cubicBezTo>
                  <a:pt x="186406" y="56260"/>
                  <a:pt x="185477" y="54087"/>
                  <a:pt x="183849" y="52496"/>
                </a:cubicBezTo>
                <a:lnTo>
                  <a:pt x="183849" y="52496"/>
                </a:lnTo>
                <a:lnTo>
                  <a:pt x="169879" y="38618"/>
                </a:lnTo>
                <a:cubicBezTo>
                  <a:pt x="172776" y="37877"/>
                  <a:pt x="175420" y="36368"/>
                  <a:pt x="177530" y="34250"/>
                </a:cubicBezTo>
                <a:cubicBezTo>
                  <a:pt x="184119" y="27443"/>
                  <a:pt x="184031" y="16609"/>
                  <a:pt x="177332" y="9910"/>
                </a:cubicBezTo>
                <a:cubicBezTo>
                  <a:pt x="170633" y="3211"/>
                  <a:pt x="159799" y="3123"/>
                  <a:pt x="152992" y="9711"/>
                </a:cubicBezTo>
                <a:cubicBezTo>
                  <a:pt x="150874" y="11821"/>
                  <a:pt x="149368" y="14466"/>
                  <a:pt x="148632" y="17363"/>
                </a:cubicBezTo>
                <a:lnTo>
                  <a:pt x="134721" y="3452"/>
                </a:lnTo>
                <a:cubicBezTo>
                  <a:pt x="131408" y="63"/>
                  <a:pt x="125976" y="0"/>
                  <a:pt x="122585" y="3310"/>
                </a:cubicBezTo>
                <a:lnTo>
                  <a:pt x="122585" y="3310"/>
                </a:lnTo>
                <a:lnTo>
                  <a:pt x="110232" y="15663"/>
                </a:lnTo>
                <a:cubicBezTo>
                  <a:pt x="109331" y="16572"/>
                  <a:pt x="108890" y="17841"/>
                  <a:pt x="109032" y="19113"/>
                </a:cubicBezTo>
                <a:cubicBezTo>
                  <a:pt x="109177" y="20405"/>
                  <a:pt x="109885" y="21567"/>
                  <a:pt x="110966" y="22289"/>
                </a:cubicBezTo>
                <a:cubicBezTo>
                  <a:pt x="116239" y="25499"/>
                  <a:pt x="119362" y="31310"/>
                  <a:pt x="119128" y="37479"/>
                </a:cubicBezTo>
                <a:cubicBezTo>
                  <a:pt x="118895" y="43647"/>
                  <a:pt x="115342" y="49206"/>
                  <a:pt x="109842" y="52008"/>
                </a:cubicBezTo>
                <a:cubicBezTo>
                  <a:pt x="104341" y="54810"/>
                  <a:pt x="97755" y="54416"/>
                  <a:pt x="92628" y="50979"/>
                </a:cubicBezTo>
                <a:cubicBezTo>
                  <a:pt x="91536" y="50288"/>
                  <a:pt x="90529" y="49471"/>
                  <a:pt x="89628" y="48545"/>
                </a:cubicBezTo>
                <a:cubicBezTo>
                  <a:pt x="88830" y="47719"/>
                  <a:pt x="88118" y="46814"/>
                  <a:pt x="87502" y="45844"/>
                </a:cubicBezTo>
                <a:cubicBezTo>
                  <a:pt x="86775" y="44767"/>
                  <a:pt x="85616" y="44059"/>
                  <a:pt x="84326" y="43902"/>
                </a:cubicBezTo>
                <a:cubicBezTo>
                  <a:pt x="83051" y="43760"/>
                  <a:pt x="81780" y="44201"/>
                  <a:pt x="80867" y="45102"/>
                </a:cubicBezTo>
                <a:lnTo>
                  <a:pt x="68473" y="57422"/>
                </a:lnTo>
                <a:cubicBezTo>
                  <a:pt x="65149" y="60810"/>
                  <a:pt x="65202" y="66251"/>
                  <a:pt x="68590" y="69575"/>
                </a:cubicBezTo>
                <a:lnTo>
                  <a:pt x="117667" y="118652"/>
                </a:lnTo>
                <a:cubicBezTo>
                  <a:pt x="120993" y="122036"/>
                  <a:pt x="126430" y="122088"/>
                  <a:pt x="129820" y="118769"/>
                </a:cubicBezTo>
                <a:lnTo>
                  <a:pt x="143090" y="105474"/>
                </a:lnTo>
                <a:cubicBezTo>
                  <a:pt x="144100" y="104451"/>
                  <a:pt x="144521" y="102985"/>
                  <a:pt x="144206" y="101582"/>
                </a:cubicBezTo>
                <a:cubicBezTo>
                  <a:pt x="143892" y="100156"/>
                  <a:pt x="142898" y="98976"/>
                  <a:pt x="141548" y="98423"/>
                </a:cubicBezTo>
                <a:cubicBezTo>
                  <a:pt x="139358" y="97543"/>
                  <a:pt x="137370" y="96227"/>
                  <a:pt x="135705" y="94555"/>
                </a:cubicBezTo>
                <a:close/>
                <a:moveTo>
                  <a:pt x="0" y="168613"/>
                </a:moveTo>
                <a:cubicBezTo>
                  <a:pt x="87519" y="197786"/>
                  <a:pt x="58346" y="197786"/>
                  <a:pt x="158368" y="147775"/>
                </a:cubicBezTo>
                <a:cubicBezTo>
                  <a:pt x="152607" y="140026"/>
                  <a:pt x="142621" y="136697"/>
                  <a:pt x="133362" y="139440"/>
                </a:cubicBezTo>
                <a:lnTo>
                  <a:pt x="97363" y="150834"/>
                </a:lnTo>
                <a:moveTo>
                  <a:pt x="0" y="122253"/>
                </a:moveTo>
                <a:lnTo>
                  <a:pt x="25005" y="122253"/>
                </a:lnTo>
                <a:cubicBezTo>
                  <a:pt x="44618" y="122253"/>
                  <a:pt x="58346" y="138923"/>
                  <a:pt x="62513" y="138923"/>
                </a:cubicBezTo>
                <a:lnTo>
                  <a:pt x="91686" y="138923"/>
                </a:lnTo>
                <a:cubicBezTo>
                  <a:pt x="100022" y="138923"/>
                  <a:pt x="100022" y="155594"/>
                  <a:pt x="91686" y="155594"/>
                </a:cubicBezTo>
                <a:lnTo>
                  <a:pt x="45843" y="155594"/>
                </a:lnTo>
                <a:moveTo>
                  <a:pt x="28456" y="122428"/>
                </a:moveTo>
                <a:cubicBezTo>
                  <a:pt x="28456" y="122428"/>
                  <a:pt x="37349" y="151068"/>
                  <a:pt x="0" y="151068"/>
                </a:cubicBezTo>
                <a:moveTo>
                  <a:pt x="130328" y="162178"/>
                </a:moveTo>
                <a:lnTo>
                  <a:pt x="119843" y="143724"/>
                </a:lnTo>
                <a:moveTo>
                  <a:pt x="98038" y="179132"/>
                </a:moveTo>
                <a:lnTo>
                  <a:pt x="88669" y="155594"/>
                </a:lnTo>
                <a:moveTo>
                  <a:pt x="63364" y="155594"/>
                </a:moveTo>
                <a:cubicBezTo>
                  <a:pt x="61746" y="150154"/>
                  <a:pt x="61746" y="144362"/>
                  <a:pt x="63364" y="138923"/>
                </a:cubicBezTo>
              </a:path>
            </a:pathLst>
          </a:cu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lang="es-CO" sz="3200" noProof="0" dirty="0">
              <a:solidFill>
                <a:schemeClr val="accent1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05" name="TextBox 19">
            <a:extLst>
              <a:ext uri="{FF2B5EF4-FFF2-40B4-BE49-F238E27FC236}">
                <a16:creationId xmlns:a16="http://schemas.microsoft.com/office/drawing/2014/main" id="{C1545AC5-5814-3EB0-6304-BD4FF2162AC8}"/>
              </a:ext>
            </a:extLst>
          </p:cNvPr>
          <p:cNvSpPr txBox="1"/>
          <p:nvPr/>
        </p:nvSpPr>
        <p:spPr>
          <a:xfrm>
            <a:off x="10798017" y="4922107"/>
            <a:ext cx="1040888" cy="6463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05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Inversión pública
real, metodología
MGA, impacto social</a:t>
            </a:r>
          </a:p>
        </p:txBody>
      </p:sp>
      <p:sp>
        <p:nvSpPr>
          <p:cNvPr id="106" name="Rounded Rectangle 20">
            <a:extLst>
              <a:ext uri="{FF2B5EF4-FFF2-40B4-BE49-F238E27FC236}">
                <a16:creationId xmlns:a16="http://schemas.microsoft.com/office/drawing/2014/main" id="{E412A05A-CC68-6130-2846-3DADA4BE2934}"/>
              </a:ext>
            </a:extLst>
          </p:cNvPr>
          <p:cNvSpPr/>
          <p:nvPr/>
        </p:nvSpPr>
        <p:spPr>
          <a:xfrm>
            <a:off x="10972629" y="3992607"/>
            <a:ext cx="360000" cy="360000"/>
          </a:xfrm>
          <a:custGeom>
            <a:avLst/>
            <a:gdLst/>
            <a:ahLst/>
            <a:cxnLst/>
            <a:rect l="0" t="0" r="0" b="0"/>
            <a:pathLst>
              <a:path w="193792" h="193792">
                <a:moveTo>
                  <a:pt x="100022" y="6384"/>
                </a:moveTo>
                <a:cubicBezTo>
                  <a:pt x="79184" y="6384"/>
                  <a:pt x="62513" y="23055"/>
                  <a:pt x="62513" y="43893"/>
                </a:cubicBezTo>
                <a:cubicBezTo>
                  <a:pt x="62513" y="64730"/>
                  <a:pt x="79184" y="81401"/>
                  <a:pt x="100022" y="81401"/>
                </a:cubicBezTo>
                <a:cubicBezTo>
                  <a:pt x="120860" y="81401"/>
                  <a:pt x="137530" y="64730"/>
                  <a:pt x="137530" y="43893"/>
                </a:cubicBezTo>
                <a:cubicBezTo>
                  <a:pt x="137530" y="23055"/>
                  <a:pt x="120860" y="6384"/>
                  <a:pt x="100022" y="6384"/>
                </a:cubicBezTo>
                <a:close/>
                <a:moveTo>
                  <a:pt x="0" y="0"/>
                </a:moveTo>
                <a:moveTo>
                  <a:pt x="89603" y="59729"/>
                </a:moveTo>
                <a:lnTo>
                  <a:pt x="82935" y="40558"/>
                </a:lnTo>
                <a:lnTo>
                  <a:pt x="99605" y="28056"/>
                </a:lnTo>
                <a:lnTo>
                  <a:pt x="116275" y="40558"/>
                </a:lnTo>
                <a:lnTo>
                  <a:pt x="110441" y="59729"/>
                </a:lnTo>
                <a:close/>
                <a:moveTo>
                  <a:pt x="99605" y="28056"/>
                </a:moveTo>
                <a:lnTo>
                  <a:pt x="99605" y="6384"/>
                </a:lnTo>
                <a:moveTo>
                  <a:pt x="135446" y="31390"/>
                </a:moveTo>
                <a:lnTo>
                  <a:pt x="116275" y="40558"/>
                </a:lnTo>
                <a:moveTo>
                  <a:pt x="82935" y="40558"/>
                </a:moveTo>
                <a:lnTo>
                  <a:pt x="64597" y="31390"/>
                </a:lnTo>
                <a:moveTo>
                  <a:pt x="122943" y="73899"/>
                </a:moveTo>
                <a:lnTo>
                  <a:pt x="110441" y="59729"/>
                </a:lnTo>
                <a:moveTo>
                  <a:pt x="89603" y="59729"/>
                </a:moveTo>
                <a:lnTo>
                  <a:pt x="77100" y="73899"/>
                </a:lnTo>
                <a:moveTo>
                  <a:pt x="27922" y="162119"/>
                </a:moveTo>
                <a:cubicBezTo>
                  <a:pt x="39891" y="162119"/>
                  <a:pt x="49594" y="152416"/>
                  <a:pt x="49594" y="140447"/>
                </a:cubicBezTo>
                <a:cubicBezTo>
                  <a:pt x="49594" y="128478"/>
                  <a:pt x="39891" y="118776"/>
                  <a:pt x="27922" y="118776"/>
                </a:cubicBezTo>
                <a:cubicBezTo>
                  <a:pt x="15954" y="118776"/>
                  <a:pt x="6251" y="128478"/>
                  <a:pt x="6251" y="140447"/>
                </a:cubicBezTo>
                <a:cubicBezTo>
                  <a:pt x="6251" y="152416"/>
                  <a:pt x="15954" y="162119"/>
                  <a:pt x="27922" y="162119"/>
                </a:cubicBezTo>
                <a:close/>
                <a:moveTo>
                  <a:pt x="62930" y="191292"/>
                </a:moveTo>
                <a:cubicBezTo>
                  <a:pt x="57095" y="177956"/>
                  <a:pt x="43759" y="168787"/>
                  <a:pt x="28756" y="168787"/>
                </a:cubicBezTo>
                <a:cubicBezTo>
                  <a:pt x="20421" y="168787"/>
                  <a:pt x="12919" y="171287"/>
                  <a:pt x="7084" y="175455"/>
                </a:cubicBezTo>
                <a:moveTo>
                  <a:pt x="172121" y="162119"/>
                </a:moveTo>
                <a:cubicBezTo>
                  <a:pt x="184090" y="162119"/>
                  <a:pt x="193792" y="152416"/>
                  <a:pt x="193792" y="140447"/>
                </a:cubicBezTo>
                <a:cubicBezTo>
                  <a:pt x="193792" y="128478"/>
                  <a:pt x="184090" y="118776"/>
                  <a:pt x="172121" y="118776"/>
                </a:cubicBezTo>
                <a:cubicBezTo>
                  <a:pt x="160152" y="118776"/>
                  <a:pt x="150449" y="128478"/>
                  <a:pt x="150449" y="140447"/>
                </a:cubicBezTo>
                <a:cubicBezTo>
                  <a:pt x="150449" y="152416"/>
                  <a:pt x="160152" y="162119"/>
                  <a:pt x="172121" y="162119"/>
                </a:cubicBezTo>
                <a:close/>
                <a:moveTo>
                  <a:pt x="137113" y="191292"/>
                </a:moveTo>
                <a:cubicBezTo>
                  <a:pt x="142948" y="177956"/>
                  <a:pt x="156284" y="168787"/>
                  <a:pt x="171287" y="168787"/>
                </a:cubicBezTo>
                <a:cubicBezTo>
                  <a:pt x="179623" y="168787"/>
                  <a:pt x="187124" y="171287"/>
                  <a:pt x="192959" y="175455"/>
                </a:cubicBezTo>
                <a:moveTo>
                  <a:pt x="99605" y="162952"/>
                </a:moveTo>
                <a:cubicBezTo>
                  <a:pt x="115256" y="162952"/>
                  <a:pt x="127945" y="150264"/>
                  <a:pt x="127945" y="134613"/>
                </a:cubicBezTo>
                <a:cubicBezTo>
                  <a:pt x="127945" y="118961"/>
                  <a:pt x="115256" y="106273"/>
                  <a:pt x="99605" y="106273"/>
                </a:cubicBezTo>
                <a:cubicBezTo>
                  <a:pt x="83953" y="106273"/>
                  <a:pt x="71265" y="118961"/>
                  <a:pt x="71265" y="134613"/>
                </a:cubicBezTo>
                <a:cubicBezTo>
                  <a:pt x="71265" y="150264"/>
                  <a:pt x="83953" y="162952"/>
                  <a:pt x="99605" y="162952"/>
                </a:cubicBezTo>
                <a:close/>
                <a:moveTo>
                  <a:pt x="139614" y="193792"/>
                </a:moveTo>
                <a:cubicBezTo>
                  <a:pt x="130445" y="182123"/>
                  <a:pt x="116275" y="175455"/>
                  <a:pt x="100438" y="175455"/>
                </a:cubicBezTo>
                <a:cubicBezTo>
                  <a:pt x="84602" y="175455"/>
                  <a:pt x="70432" y="182957"/>
                  <a:pt x="61263" y="193792"/>
                </a:cubicBezTo>
              </a:path>
            </a:pathLst>
          </a:cu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lang="es-CO" sz="3200" noProof="0" dirty="0">
              <a:solidFill>
                <a:schemeClr val="accent1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07" name="TextBox 25">
            <a:extLst>
              <a:ext uri="{FF2B5EF4-FFF2-40B4-BE49-F238E27FC236}">
                <a16:creationId xmlns:a16="http://schemas.microsoft.com/office/drawing/2014/main" id="{5B59940C-126F-AC63-8075-FD35D987B60F}"/>
              </a:ext>
            </a:extLst>
          </p:cNvPr>
          <p:cNvSpPr txBox="1"/>
          <p:nvPr/>
        </p:nvSpPr>
        <p:spPr>
          <a:xfrm>
            <a:off x="8522067" y="4972174"/>
            <a:ext cx="1137975" cy="4847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05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6-8 meses, 6 etapas
principales</a:t>
            </a:r>
          </a:p>
        </p:txBody>
      </p:sp>
      <p:sp>
        <p:nvSpPr>
          <p:cNvPr id="108" name="TextBox 26">
            <a:extLst>
              <a:ext uri="{FF2B5EF4-FFF2-40B4-BE49-F238E27FC236}">
                <a16:creationId xmlns:a16="http://schemas.microsoft.com/office/drawing/2014/main" id="{E754403D-CCCA-E7A2-BED2-5DE5F7D0EA09}"/>
              </a:ext>
            </a:extLst>
          </p:cNvPr>
          <p:cNvSpPr txBox="1"/>
          <p:nvPr/>
        </p:nvSpPr>
        <p:spPr>
          <a:xfrm>
            <a:off x="9660042" y="4972174"/>
            <a:ext cx="996550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05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$12.879.515.137
COP</a:t>
            </a:r>
          </a:p>
        </p:txBody>
      </p:sp>
      <p:sp>
        <p:nvSpPr>
          <p:cNvPr id="109" name="Rounded Rectangle 27">
            <a:extLst>
              <a:ext uri="{FF2B5EF4-FFF2-40B4-BE49-F238E27FC236}">
                <a16:creationId xmlns:a16="http://schemas.microsoft.com/office/drawing/2014/main" id="{BE85DEE0-D8EA-589E-5A1E-B4B5ABEF4DB7}"/>
              </a:ext>
            </a:extLst>
          </p:cNvPr>
          <p:cNvSpPr/>
          <p:nvPr/>
        </p:nvSpPr>
        <p:spPr>
          <a:xfrm>
            <a:off x="9975723" y="4044103"/>
            <a:ext cx="360000" cy="360000"/>
          </a:xfrm>
          <a:custGeom>
            <a:avLst/>
            <a:gdLst/>
            <a:ahLst/>
            <a:cxnLst/>
            <a:rect l="0" t="0" r="0" b="0"/>
            <a:pathLst>
              <a:path w="187066" h="97052">
                <a:moveTo>
                  <a:pt x="187066" y="16175"/>
                </a:moveTo>
                <a:cubicBezTo>
                  <a:pt x="183735" y="6751"/>
                  <a:pt x="173368" y="0"/>
                  <a:pt x="162803" y="0"/>
                </a:cubicBezTo>
                <a:cubicBezTo>
                  <a:pt x="149908" y="0"/>
                  <a:pt x="138540" y="10453"/>
                  <a:pt x="138540" y="23348"/>
                </a:cubicBezTo>
                <a:cubicBezTo>
                  <a:pt x="138540" y="33392"/>
                  <a:pt x="145376" y="42147"/>
                  <a:pt x="155120" y="44583"/>
                </a:cubicBezTo>
                <a:lnTo>
                  <a:pt x="168828" y="48010"/>
                </a:lnTo>
                <a:cubicBezTo>
                  <a:pt x="179546" y="50690"/>
                  <a:pt x="187066" y="60320"/>
                  <a:pt x="187066" y="71368"/>
                </a:cubicBezTo>
                <a:lnTo>
                  <a:pt x="187066" y="72788"/>
                </a:lnTo>
                <a:cubicBezTo>
                  <a:pt x="187066" y="86188"/>
                  <a:pt x="176203" y="97052"/>
                  <a:pt x="162803" y="97052"/>
                </a:cubicBezTo>
                <a:cubicBezTo>
                  <a:pt x="152239" y="97052"/>
                  <a:pt x="141871" y="90299"/>
                  <a:pt x="138540" y="80876"/>
                </a:cubicBezTo>
                <a:moveTo>
                  <a:pt x="48525" y="16175"/>
                </a:moveTo>
                <a:cubicBezTo>
                  <a:pt x="45194" y="6751"/>
                  <a:pt x="34826" y="0"/>
                  <a:pt x="24262" y="0"/>
                </a:cubicBezTo>
                <a:cubicBezTo>
                  <a:pt x="10862" y="0"/>
                  <a:pt x="0" y="10862"/>
                  <a:pt x="0" y="24262"/>
                </a:cubicBezTo>
                <a:lnTo>
                  <a:pt x="0" y="72788"/>
                </a:lnTo>
                <a:cubicBezTo>
                  <a:pt x="0" y="86188"/>
                  <a:pt x="10862" y="97051"/>
                  <a:pt x="24262" y="97051"/>
                </a:cubicBezTo>
                <a:cubicBezTo>
                  <a:pt x="34826" y="97051"/>
                  <a:pt x="45194" y="90299"/>
                  <a:pt x="48525" y="80876"/>
                </a:cubicBezTo>
                <a:moveTo>
                  <a:pt x="69271" y="24262"/>
                </a:moveTo>
                <a:lnTo>
                  <a:pt x="69271" y="72788"/>
                </a:lnTo>
                <a:cubicBezTo>
                  <a:pt x="69271" y="86188"/>
                  <a:pt x="80134" y="97051"/>
                  <a:pt x="93534" y="97051"/>
                </a:cubicBezTo>
                <a:cubicBezTo>
                  <a:pt x="106934" y="97051"/>
                  <a:pt x="117797" y="86188"/>
                  <a:pt x="117797" y="72788"/>
                </a:cubicBezTo>
                <a:lnTo>
                  <a:pt x="117797" y="24262"/>
                </a:lnTo>
                <a:cubicBezTo>
                  <a:pt x="117797" y="10862"/>
                  <a:pt x="106934" y="0"/>
                  <a:pt x="93534" y="0"/>
                </a:cubicBezTo>
                <a:cubicBezTo>
                  <a:pt x="80134" y="0"/>
                  <a:pt x="69271" y="10862"/>
                  <a:pt x="69271" y="24262"/>
                </a:cubicBezTo>
                <a:close/>
              </a:path>
            </a:pathLst>
          </a:cu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  <a:endParaRPr lang="es-CO" sz="3200" noProof="0" dirty="0">
              <a:solidFill>
                <a:schemeClr val="accent1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10" name="TextBox 28">
            <a:extLst>
              <a:ext uri="{FF2B5EF4-FFF2-40B4-BE49-F238E27FC236}">
                <a16:creationId xmlns:a16="http://schemas.microsoft.com/office/drawing/2014/main" id="{38DB11E5-A0E3-9FDD-1F47-4445ADC753B2}"/>
              </a:ext>
            </a:extLst>
          </p:cNvPr>
          <p:cNvSpPr txBox="1"/>
          <p:nvPr/>
        </p:nvSpPr>
        <p:spPr>
          <a:xfrm>
            <a:off x="7368845" y="4799225"/>
            <a:ext cx="1153222" cy="8079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O" sz="1050" b="1" noProof="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rPr>
              <a:t>441 soluciones
solares autónomas,
módulos
monocristalinos,
baterías de litio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9326880" y="91440"/>
            <a:ext cx="2286000" cy="2011680"/>
          </a:xfrm>
          <a:prstGeom prst="arc">
            <a:avLst/>
          </a:prstGeom>
          <a:noFill/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182880" y="4663440"/>
            <a:ext cx="1645920" cy="1463040"/>
          </a:xfrm>
          <a:prstGeom prst="arc">
            <a:avLst/>
          </a:prstGeom>
          <a:noFill/>
          <a:ln w="12700">
            <a:solidFill>
              <a:srgbClr val="F59E0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B6C6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202086806A</a:t>
            </a:r>
            <a:endParaRPr lang="es-CO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713232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300" b="1" noProof="0" dirty="0">
                <a:solidFill>
                  <a:srgbClr val="FFFFFF"/>
                </a:solidFill>
              </a:rPr>
              <a:t>Principios y Valores de Scrum</a:t>
            </a:r>
            <a:endParaRPr lang="es-CO" sz="23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DCEBFF"/>
                </a:solidFill>
              </a:rPr>
              <a:t>Aplicación práctica en el proyecto SISFV – Argelia, Cauca.</a:t>
            </a:r>
            <a:endParaRPr lang="es-CO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544068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D4ED8"/>
                </a:solidFill>
              </a:rPr>
              <a:t>Principios</a:t>
            </a:r>
            <a:endParaRPr lang="es-CO" sz="2000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2331720"/>
            <a:ext cx="4526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Shape 10"/>
          <p:cNvSpPr/>
          <p:nvPr/>
        </p:nvSpPr>
        <p:spPr>
          <a:xfrm>
            <a:off x="1024127" y="2441448"/>
            <a:ext cx="1444751" cy="512064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3" name="Text 11"/>
          <p:cNvSpPr/>
          <p:nvPr/>
        </p:nvSpPr>
        <p:spPr>
          <a:xfrm>
            <a:off x="1024127" y="2551176"/>
            <a:ext cx="14447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Transparencia</a:t>
            </a:r>
            <a:endParaRPr lang="es-CO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2697480" y="2496312"/>
            <a:ext cx="25145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0F172A"/>
                </a:solidFill>
              </a:rPr>
              <a:t>Tableros visibles, estado por vereda, inventario y capacitación con trazabilidad compartida.</a:t>
            </a:r>
            <a:endParaRPr lang="es-CO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914400" y="3291840"/>
            <a:ext cx="4526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Shape 14"/>
          <p:cNvSpPr/>
          <p:nvPr/>
        </p:nvSpPr>
        <p:spPr>
          <a:xfrm>
            <a:off x="1024127" y="3401568"/>
            <a:ext cx="1444751" cy="512064"/>
          </a:xfrm>
          <a:prstGeom prst="round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1046987" y="3511296"/>
            <a:ext cx="13892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Inspección</a:t>
            </a:r>
            <a:endParaRPr lang="es-CO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2697480" y="3456432"/>
            <a:ext cx="25145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0F172A"/>
                </a:solidFill>
              </a:rPr>
              <a:t>Daily Scrum y Sprint Review para revisar avance, evidencias y funcionamiento real del incremento.</a:t>
            </a:r>
            <a:endParaRPr lang="es-CO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914400" y="4251960"/>
            <a:ext cx="452628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Shape 18"/>
          <p:cNvSpPr/>
          <p:nvPr/>
        </p:nvSpPr>
        <p:spPr>
          <a:xfrm>
            <a:off x="1024127" y="4361688"/>
            <a:ext cx="1444751" cy="512064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/>
          <p:nvPr/>
        </p:nvSpPr>
        <p:spPr>
          <a:xfrm>
            <a:off x="1046987" y="4471416"/>
            <a:ext cx="13892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Adaptación</a:t>
            </a:r>
            <a:endParaRPr lang="es-CO" sz="1400" noProof="0" dirty="0"/>
          </a:p>
        </p:txBody>
      </p:sp>
      <p:sp>
        <p:nvSpPr>
          <p:cNvPr id="22" name="Text 20"/>
          <p:cNvSpPr/>
          <p:nvPr/>
        </p:nvSpPr>
        <p:spPr>
          <a:xfrm>
            <a:off x="2697480" y="4416552"/>
            <a:ext cx="251459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0F172A"/>
                </a:solidFill>
              </a:rPr>
              <a:t>Ajustes al plan, capacidad y PBIs usando hallazgos del Review y aprendizaje en campo.</a:t>
            </a:r>
            <a:endParaRPr lang="es-CO" sz="1200" noProof="0" dirty="0"/>
          </a:p>
        </p:txBody>
      </p:sp>
      <p:sp>
        <p:nvSpPr>
          <p:cNvPr id="23" name="Shape 21"/>
          <p:cNvSpPr/>
          <p:nvPr/>
        </p:nvSpPr>
        <p:spPr>
          <a:xfrm>
            <a:off x="6309360" y="1645920"/>
            <a:ext cx="525780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4" name="Text 22"/>
          <p:cNvSpPr/>
          <p:nvPr/>
        </p:nvSpPr>
        <p:spPr>
          <a:xfrm>
            <a:off x="6537960" y="1874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14B8A6"/>
                </a:solidFill>
              </a:rPr>
              <a:t>Valores</a:t>
            </a:r>
            <a:endParaRPr lang="es-CO" sz="2000" noProof="0" dirty="0"/>
          </a:p>
        </p:txBody>
      </p:sp>
      <p:sp>
        <p:nvSpPr>
          <p:cNvPr id="25" name="Shape 23"/>
          <p:cNvSpPr/>
          <p:nvPr/>
        </p:nvSpPr>
        <p:spPr>
          <a:xfrm>
            <a:off x="6628147" y="2331720"/>
            <a:ext cx="2296220" cy="73152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6" name="Text 24"/>
          <p:cNvSpPr/>
          <p:nvPr/>
        </p:nvSpPr>
        <p:spPr>
          <a:xfrm>
            <a:off x="6719587" y="2407020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Compromiso</a:t>
            </a:r>
            <a:endParaRPr lang="es-CO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6737874" y="2671838"/>
            <a:ext cx="210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64748B"/>
                </a:solidFill>
              </a:rPr>
              <a:t>Entrega verificable por Sprint.</a:t>
            </a:r>
            <a:endParaRPr lang="es-CO" sz="1400" noProof="0" dirty="0"/>
          </a:p>
        </p:txBody>
      </p:sp>
      <p:sp>
        <p:nvSpPr>
          <p:cNvPr id="28" name="Shape 26"/>
          <p:cNvSpPr/>
          <p:nvPr/>
        </p:nvSpPr>
        <p:spPr>
          <a:xfrm>
            <a:off x="9034095" y="2331720"/>
            <a:ext cx="2231501" cy="731520"/>
          </a:xfrm>
          <a:prstGeom prst="roundRect">
            <a:avLst>
              <a:gd name="adj" fmla="val 1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9" name="Text 27"/>
          <p:cNvSpPr/>
          <p:nvPr/>
        </p:nvSpPr>
        <p:spPr>
          <a:xfrm>
            <a:off x="9097027" y="2432304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Foco</a:t>
            </a:r>
            <a:endParaRPr lang="es-CO" sz="1600" noProof="0" dirty="0"/>
          </a:p>
        </p:txBody>
      </p:sp>
      <p:sp>
        <p:nvSpPr>
          <p:cNvPr id="30" name="Text 28"/>
          <p:cNvSpPr/>
          <p:nvPr/>
        </p:nvSpPr>
        <p:spPr>
          <a:xfrm>
            <a:off x="9099177" y="2661620"/>
            <a:ext cx="202118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64748B"/>
                </a:solidFill>
              </a:rPr>
              <a:t>Prioridad sobre lo pactado.</a:t>
            </a:r>
            <a:endParaRPr lang="es-CO" sz="1400" noProof="0" dirty="0"/>
          </a:p>
        </p:txBody>
      </p:sp>
      <p:sp>
        <p:nvSpPr>
          <p:cNvPr id="31" name="Shape 29"/>
          <p:cNvSpPr/>
          <p:nvPr/>
        </p:nvSpPr>
        <p:spPr>
          <a:xfrm>
            <a:off x="6628147" y="3273552"/>
            <a:ext cx="2296220" cy="73152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2" name="Text 30"/>
          <p:cNvSpPr/>
          <p:nvPr/>
        </p:nvSpPr>
        <p:spPr>
          <a:xfrm>
            <a:off x="6719587" y="3355848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Franqueza</a:t>
            </a:r>
            <a:endParaRPr lang="es-CO" sz="1600" noProof="0" dirty="0"/>
          </a:p>
        </p:txBody>
      </p:sp>
      <p:sp>
        <p:nvSpPr>
          <p:cNvPr id="33" name="Text 31"/>
          <p:cNvSpPr/>
          <p:nvPr/>
        </p:nvSpPr>
        <p:spPr>
          <a:xfrm>
            <a:off x="6737874" y="3703320"/>
            <a:ext cx="1931901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64748B"/>
                </a:solidFill>
              </a:rPr>
              <a:t>Bloqueos visibles y diálogo honesto.</a:t>
            </a:r>
            <a:endParaRPr lang="es-CO" sz="1400" noProof="0" dirty="0"/>
          </a:p>
        </p:txBody>
      </p:sp>
      <p:sp>
        <p:nvSpPr>
          <p:cNvPr id="34" name="Shape 32"/>
          <p:cNvSpPr/>
          <p:nvPr/>
        </p:nvSpPr>
        <p:spPr>
          <a:xfrm>
            <a:off x="9034095" y="3273552"/>
            <a:ext cx="2231501" cy="731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5" name="Text 33"/>
          <p:cNvSpPr/>
          <p:nvPr/>
        </p:nvSpPr>
        <p:spPr>
          <a:xfrm>
            <a:off x="9142243" y="3374136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Respeto</a:t>
            </a:r>
            <a:endParaRPr lang="es-CO" sz="1600" noProof="0" dirty="0"/>
          </a:p>
        </p:txBody>
      </p:sp>
      <p:sp>
        <p:nvSpPr>
          <p:cNvPr id="36" name="Text 34"/>
          <p:cNvSpPr/>
          <p:nvPr/>
        </p:nvSpPr>
        <p:spPr>
          <a:xfrm>
            <a:off x="9152967" y="3703320"/>
            <a:ext cx="2002901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64748B"/>
                </a:solidFill>
              </a:rPr>
              <a:t>Trabajo coordinado con comunidad.</a:t>
            </a:r>
            <a:endParaRPr lang="es-CO" sz="1400" noProof="0" dirty="0"/>
          </a:p>
        </p:txBody>
      </p:sp>
      <p:sp>
        <p:nvSpPr>
          <p:cNvPr id="37" name="Shape 35"/>
          <p:cNvSpPr/>
          <p:nvPr/>
        </p:nvSpPr>
        <p:spPr>
          <a:xfrm>
            <a:off x="6628146" y="4215384"/>
            <a:ext cx="4637449" cy="7315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8" name="Text 36"/>
          <p:cNvSpPr/>
          <p:nvPr/>
        </p:nvSpPr>
        <p:spPr>
          <a:xfrm>
            <a:off x="6719587" y="434797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Coraje</a:t>
            </a:r>
            <a:endParaRPr lang="es-CO" sz="1600" noProof="0" dirty="0"/>
          </a:p>
        </p:txBody>
      </p:sp>
      <p:sp>
        <p:nvSpPr>
          <p:cNvPr id="39" name="Text 37"/>
          <p:cNvSpPr/>
          <p:nvPr/>
        </p:nvSpPr>
        <p:spPr>
          <a:xfrm>
            <a:off x="6737874" y="4645152"/>
            <a:ext cx="4429997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noProof="0" dirty="0">
                <a:solidFill>
                  <a:srgbClr val="64748B"/>
                </a:solidFill>
              </a:rPr>
              <a:t>Capacidad para </a:t>
            </a:r>
            <a:r>
              <a:rPr lang="es-CO" sz="1600" noProof="0" dirty="0">
                <a:solidFill>
                  <a:srgbClr val="64748B"/>
                </a:solidFill>
              </a:rPr>
              <a:t>enfrentar</a:t>
            </a:r>
            <a:r>
              <a:rPr lang="es-CO" sz="1400" noProof="0" dirty="0">
                <a:solidFill>
                  <a:srgbClr val="64748B"/>
                </a:solidFill>
              </a:rPr>
              <a:t> riesgos reales.</a:t>
            </a:r>
            <a:endParaRPr lang="es-CO" sz="1400" noProof="0" dirty="0"/>
          </a:p>
        </p:txBody>
      </p:sp>
      <p:pic>
        <p:nvPicPr>
          <p:cNvPr id="41" name="Gráfico 40" descr="Balanza de la justicia con relleno sólido">
            <a:extLst>
              <a:ext uri="{FF2B5EF4-FFF2-40B4-BE49-F238E27FC236}">
                <a16:creationId xmlns:a16="http://schemas.microsoft.com/office/drawing/2014/main" id="{CAF4B2F6-6A94-36A3-025D-BBA3E0C44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480" y="5166360"/>
            <a:ext cx="914400" cy="914400"/>
          </a:xfrm>
          <a:prstGeom prst="rect">
            <a:avLst/>
          </a:prstGeom>
        </p:spPr>
      </p:pic>
      <p:pic>
        <p:nvPicPr>
          <p:cNvPr id="43" name="Gráfico 42" descr="Estrella con relleno sólido">
            <a:extLst>
              <a:ext uri="{FF2B5EF4-FFF2-40B4-BE49-F238E27FC236}">
                <a16:creationId xmlns:a16="http://schemas.microsoft.com/office/drawing/2014/main" id="{F98456CE-1704-488B-893F-5B430AE34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6895" y="5051791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9326880" y="91440"/>
            <a:ext cx="2286000" cy="2011680"/>
          </a:xfrm>
          <a:prstGeom prst="arc">
            <a:avLst/>
          </a:prstGeom>
          <a:noFill/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182880" y="4663440"/>
            <a:ext cx="1645920" cy="1463040"/>
          </a:xfrm>
          <a:prstGeom prst="arc">
            <a:avLst/>
          </a:prstGeom>
          <a:noFill/>
          <a:ln w="12700">
            <a:solidFill>
              <a:srgbClr val="F59E0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B6C6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202086806A</a:t>
            </a:r>
            <a:endParaRPr lang="es-CO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713232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300" b="1" noProof="0" dirty="0">
                <a:solidFill>
                  <a:srgbClr val="FFFFFF"/>
                </a:solidFill>
              </a:rPr>
              <a:t>Planificación de los eventos de Scrum</a:t>
            </a:r>
            <a:endParaRPr lang="es-CO" sz="23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DCEBFF"/>
                </a:solidFill>
              </a:rPr>
              <a:t>Secuencia operativa apoyada por Jira, Teams y ArcGIS Survey123.</a:t>
            </a:r>
            <a:endParaRPr lang="es-CO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4156935"/>
            <a:ext cx="10287000" cy="0"/>
          </a:xfrm>
          <a:prstGeom prst="line">
            <a:avLst/>
          </a:prstGeom>
          <a:noFill/>
          <a:ln w="12700">
            <a:solidFill>
              <a:srgbClr val="7DD3FC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Shape 8"/>
          <p:cNvSpPr/>
          <p:nvPr/>
        </p:nvSpPr>
        <p:spPr>
          <a:xfrm>
            <a:off x="914400" y="2419575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11" name="Shape 9"/>
          <p:cNvSpPr/>
          <p:nvPr/>
        </p:nvSpPr>
        <p:spPr>
          <a:xfrm>
            <a:off x="1572768" y="4010631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1572768" y="4166079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1</a:t>
            </a:r>
            <a:endParaRPr lang="es-CO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1005840" y="2556735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Sprint Planning</a:t>
            </a:r>
            <a:endParaRPr lang="es-CO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1024128" y="2858487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0F172A"/>
                </a:solidFill>
              </a:rPr>
              <a:t>Define Sprint Goal, PBIs y DoD.</a:t>
            </a:r>
            <a:endParaRPr lang="es-CO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1133856" y="3443703"/>
            <a:ext cx="1435608" cy="310896"/>
          </a:xfrm>
          <a:prstGeom prst="roundRect">
            <a:avLst>
              <a:gd name="adj" fmla="val 4705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16" name="Text 14"/>
          <p:cNvSpPr/>
          <p:nvPr/>
        </p:nvSpPr>
        <p:spPr>
          <a:xfrm>
            <a:off x="1207008" y="3498567"/>
            <a:ext cx="1289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</a:rPr>
              <a:t>Jira + Teams</a:t>
            </a:r>
            <a:endParaRPr lang="es-CO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3063240" y="2053815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18" name="Shape 16"/>
          <p:cNvSpPr/>
          <p:nvPr/>
        </p:nvSpPr>
        <p:spPr>
          <a:xfrm>
            <a:off x="3721608" y="4010631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9" name="Text 17"/>
          <p:cNvSpPr/>
          <p:nvPr/>
        </p:nvSpPr>
        <p:spPr>
          <a:xfrm>
            <a:off x="3721608" y="4166079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2</a:t>
            </a:r>
            <a:endParaRPr lang="es-CO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3154680" y="2190975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Sprint</a:t>
            </a:r>
            <a:endParaRPr lang="es-CO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3172968" y="2492727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0F172A"/>
                </a:solidFill>
              </a:rPr>
              <a:t>Ejecuta el trabajo y genera evidencias.</a:t>
            </a:r>
            <a:endParaRPr lang="es-CO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3282696" y="3077943"/>
            <a:ext cx="1435608" cy="310896"/>
          </a:xfrm>
          <a:prstGeom prst="roundRect">
            <a:avLst>
              <a:gd name="adj" fmla="val 4705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23" name="Text 21"/>
          <p:cNvSpPr/>
          <p:nvPr/>
        </p:nvSpPr>
        <p:spPr>
          <a:xfrm>
            <a:off x="3355848" y="3132807"/>
            <a:ext cx="1289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</a:rPr>
              <a:t>Jira + Survey123</a:t>
            </a:r>
            <a:endParaRPr lang="es-CO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983480" y="2419575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FEF3C7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25" name="Shape 23"/>
          <p:cNvSpPr/>
          <p:nvPr/>
        </p:nvSpPr>
        <p:spPr>
          <a:xfrm>
            <a:off x="5641848" y="4010631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6" name="Text 24"/>
          <p:cNvSpPr/>
          <p:nvPr/>
        </p:nvSpPr>
        <p:spPr>
          <a:xfrm>
            <a:off x="5641848" y="4166079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3</a:t>
            </a:r>
            <a:endParaRPr lang="es-CO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5074920" y="2556735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Daily Scrum</a:t>
            </a:r>
            <a:endParaRPr lang="es-CO" sz="1600" noProof="0" dirty="0"/>
          </a:p>
        </p:txBody>
      </p:sp>
      <p:sp>
        <p:nvSpPr>
          <p:cNvPr id="28" name="Text 26"/>
          <p:cNvSpPr/>
          <p:nvPr/>
        </p:nvSpPr>
        <p:spPr>
          <a:xfrm>
            <a:off x="5093208" y="2858487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0F172A"/>
                </a:solidFill>
              </a:rPr>
              <a:t>Ajuste diario del plan y bloqueos.</a:t>
            </a:r>
            <a:endParaRPr lang="es-CO" sz="1100" noProof="0" dirty="0"/>
          </a:p>
        </p:txBody>
      </p:sp>
      <p:sp>
        <p:nvSpPr>
          <p:cNvPr id="29" name="Shape 27"/>
          <p:cNvSpPr/>
          <p:nvPr/>
        </p:nvSpPr>
        <p:spPr>
          <a:xfrm>
            <a:off x="5202936" y="3443703"/>
            <a:ext cx="1435608" cy="310896"/>
          </a:xfrm>
          <a:prstGeom prst="roundRect">
            <a:avLst>
              <a:gd name="adj" fmla="val 4705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30" name="Text 28"/>
          <p:cNvSpPr/>
          <p:nvPr/>
        </p:nvSpPr>
        <p:spPr>
          <a:xfrm>
            <a:off x="5276088" y="3498567"/>
            <a:ext cx="1289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</a:rPr>
              <a:t>Teams + Jira</a:t>
            </a:r>
            <a:endParaRPr lang="es-CO" sz="1100" noProof="0" dirty="0"/>
          </a:p>
        </p:txBody>
      </p:sp>
      <p:sp>
        <p:nvSpPr>
          <p:cNvPr id="31" name="Shape 29"/>
          <p:cNvSpPr/>
          <p:nvPr/>
        </p:nvSpPr>
        <p:spPr>
          <a:xfrm>
            <a:off x="7132320" y="2053815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32" name="Shape 30"/>
          <p:cNvSpPr/>
          <p:nvPr/>
        </p:nvSpPr>
        <p:spPr>
          <a:xfrm>
            <a:off x="7790688" y="4010631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3" name="Text 31"/>
          <p:cNvSpPr/>
          <p:nvPr/>
        </p:nvSpPr>
        <p:spPr>
          <a:xfrm>
            <a:off x="7790688" y="4166079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4</a:t>
            </a:r>
            <a:endParaRPr lang="es-CO" sz="1400" noProof="0" dirty="0"/>
          </a:p>
        </p:txBody>
      </p:sp>
      <p:sp>
        <p:nvSpPr>
          <p:cNvPr id="34" name="Text 32"/>
          <p:cNvSpPr/>
          <p:nvPr/>
        </p:nvSpPr>
        <p:spPr>
          <a:xfrm>
            <a:off x="7223760" y="2190975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Sprint Review</a:t>
            </a:r>
            <a:endParaRPr lang="es-CO" sz="1600" noProof="0" dirty="0"/>
          </a:p>
        </p:txBody>
      </p:sp>
      <p:sp>
        <p:nvSpPr>
          <p:cNvPr id="35" name="Text 33"/>
          <p:cNvSpPr/>
          <p:nvPr/>
        </p:nvSpPr>
        <p:spPr>
          <a:xfrm>
            <a:off x="7242048" y="2492727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0F172A"/>
                </a:solidFill>
              </a:rPr>
              <a:t>Valida incremento con actores clave.</a:t>
            </a:r>
            <a:endParaRPr lang="es-CO" sz="1100" noProof="0" dirty="0"/>
          </a:p>
        </p:txBody>
      </p:sp>
      <p:sp>
        <p:nvSpPr>
          <p:cNvPr id="36" name="Shape 34"/>
          <p:cNvSpPr/>
          <p:nvPr/>
        </p:nvSpPr>
        <p:spPr>
          <a:xfrm>
            <a:off x="7351776" y="3077943"/>
            <a:ext cx="1435608" cy="310896"/>
          </a:xfrm>
          <a:prstGeom prst="roundRect">
            <a:avLst>
              <a:gd name="adj" fmla="val 4705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37" name="Text 35"/>
          <p:cNvSpPr/>
          <p:nvPr/>
        </p:nvSpPr>
        <p:spPr>
          <a:xfrm>
            <a:off x="7424928" y="3132807"/>
            <a:ext cx="1289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</a:rPr>
              <a:t>Survey123 + Teams</a:t>
            </a:r>
            <a:endParaRPr lang="es-CO" sz="1100" noProof="0" dirty="0"/>
          </a:p>
        </p:txBody>
      </p:sp>
      <p:sp>
        <p:nvSpPr>
          <p:cNvPr id="38" name="Shape 36"/>
          <p:cNvSpPr/>
          <p:nvPr/>
        </p:nvSpPr>
        <p:spPr>
          <a:xfrm>
            <a:off x="9144000" y="2419575"/>
            <a:ext cx="1874520" cy="1463040"/>
          </a:xfrm>
          <a:prstGeom prst="roundRect">
            <a:avLst>
              <a:gd name="adj" fmla="val 7500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39" name="Shape 37"/>
          <p:cNvSpPr/>
          <p:nvPr/>
        </p:nvSpPr>
        <p:spPr>
          <a:xfrm>
            <a:off x="9802368" y="4010631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0" name="Text 38"/>
          <p:cNvSpPr/>
          <p:nvPr/>
        </p:nvSpPr>
        <p:spPr>
          <a:xfrm>
            <a:off x="9802368" y="4166079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rgbClr val="FFFFFF"/>
                </a:solidFill>
              </a:rPr>
              <a:t>5</a:t>
            </a:r>
            <a:endParaRPr lang="es-CO" sz="1400" noProof="0" dirty="0"/>
          </a:p>
        </p:txBody>
      </p:sp>
      <p:sp>
        <p:nvSpPr>
          <p:cNvPr id="41" name="Text 39"/>
          <p:cNvSpPr/>
          <p:nvPr/>
        </p:nvSpPr>
        <p:spPr>
          <a:xfrm>
            <a:off x="9235440" y="2556735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600" b="1" noProof="0" dirty="0">
                <a:solidFill>
                  <a:srgbClr val="0F172A"/>
                </a:solidFill>
              </a:rPr>
              <a:t>Retrospective</a:t>
            </a:r>
            <a:endParaRPr lang="es-CO" sz="1600" noProof="0" dirty="0"/>
          </a:p>
        </p:txBody>
      </p:sp>
      <p:sp>
        <p:nvSpPr>
          <p:cNvPr id="42" name="Text 40"/>
          <p:cNvSpPr/>
          <p:nvPr/>
        </p:nvSpPr>
        <p:spPr>
          <a:xfrm>
            <a:off x="9253728" y="2858487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100" noProof="0" dirty="0">
                <a:solidFill>
                  <a:srgbClr val="0F172A"/>
                </a:solidFill>
              </a:rPr>
              <a:t>Define mejoras medibles para el siguiente Sprint.</a:t>
            </a:r>
            <a:endParaRPr lang="es-CO" sz="1100" noProof="0" dirty="0"/>
          </a:p>
        </p:txBody>
      </p:sp>
      <p:sp>
        <p:nvSpPr>
          <p:cNvPr id="43" name="Shape 41"/>
          <p:cNvSpPr/>
          <p:nvPr/>
        </p:nvSpPr>
        <p:spPr>
          <a:xfrm>
            <a:off x="9363456" y="3443703"/>
            <a:ext cx="1435608" cy="310896"/>
          </a:xfrm>
          <a:prstGeom prst="roundRect">
            <a:avLst>
              <a:gd name="adj" fmla="val 4705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44" name="Text 42"/>
          <p:cNvSpPr/>
          <p:nvPr/>
        </p:nvSpPr>
        <p:spPr>
          <a:xfrm>
            <a:off x="9436608" y="3498567"/>
            <a:ext cx="12893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100" b="1" noProof="0" dirty="0">
                <a:solidFill>
                  <a:srgbClr val="FFFFFF"/>
                </a:solidFill>
              </a:rPr>
              <a:t>Teams + Jira</a:t>
            </a:r>
            <a:endParaRPr lang="es-CO" sz="1100" noProof="0" dirty="0"/>
          </a:p>
        </p:txBody>
      </p:sp>
      <p:pic>
        <p:nvPicPr>
          <p:cNvPr id="46" name="Gráfico 45" descr="Plano con relleno sólido">
            <a:extLst>
              <a:ext uri="{FF2B5EF4-FFF2-40B4-BE49-F238E27FC236}">
                <a16:creationId xmlns:a16="http://schemas.microsoft.com/office/drawing/2014/main" id="{0D8AD095-912E-28BE-086A-B793EB4753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0992" y="50221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9326880" y="91440"/>
            <a:ext cx="2286000" cy="2011680"/>
          </a:xfrm>
          <a:prstGeom prst="arc">
            <a:avLst/>
          </a:prstGeom>
          <a:noFill/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182880" y="4663440"/>
            <a:ext cx="1645920" cy="1463040"/>
          </a:xfrm>
          <a:prstGeom prst="arc">
            <a:avLst/>
          </a:prstGeom>
          <a:noFill/>
          <a:ln w="12700">
            <a:solidFill>
              <a:srgbClr val="F59E0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6328186"/>
            <a:ext cx="2194560" cy="209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B6C6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202086806A</a:t>
            </a:r>
            <a:endParaRPr lang="es-CO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3840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000" b="1" noProof="0" dirty="0">
                <a:solidFill>
                  <a:srgbClr val="F59E0B"/>
                </a:solidFill>
              </a:rPr>
              <a:t>Artefactos Scrum</a:t>
            </a:r>
            <a:endParaRPr lang="es-CO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713232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300" b="1" noProof="0" dirty="0">
                <a:solidFill>
                  <a:srgbClr val="FFFFFF"/>
                </a:solidFill>
              </a:rPr>
              <a:t>Product Backlog, Sprint Backlog e Increment</a:t>
            </a:r>
            <a:endParaRPr lang="es-CO" sz="23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DCEBFF"/>
                </a:solidFill>
              </a:rPr>
              <a:t>Planificación de los artefactos con trazabilidad, evidencia y control de calidad.</a:t>
            </a:r>
            <a:endParaRPr lang="es-CO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777240" y="182880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Shape 8"/>
          <p:cNvSpPr/>
          <p:nvPr/>
        </p:nvSpPr>
        <p:spPr>
          <a:xfrm>
            <a:off x="960120" y="20299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/>
          <p:nvPr/>
        </p:nvSpPr>
        <p:spPr>
          <a:xfrm>
            <a:off x="1554480" y="205740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b="1" noProof="0" dirty="0">
                <a:solidFill>
                  <a:srgbClr val="0F172A"/>
                </a:solidFill>
              </a:rPr>
              <a:t>Product Backlog</a:t>
            </a:r>
            <a:endParaRPr lang="es-CO" noProof="0" dirty="0"/>
          </a:p>
        </p:txBody>
      </p:sp>
      <p:sp>
        <p:nvSpPr>
          <p:cNvPr id="12" name="Text 10"/>
          <p:cNvSpPr/>
          <p:nvPr/>
        </p:nvSpPr>
        <p:spPr>
          <a:xfrm>
            <a:off x="996696" y="2743200"/>
            <a:ext cx="2304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s-CO" sz="1400" noProof="0" dirty="0">
                <a:solidFill>
                  <a:srgbClr val="0F172A"/>
                </a:solidFill>
              </a:rPr>
              <a:t>Lista priorizada por vereda, lote y actividad clave.</a:t>
            </a:r>
          </a:p>
          <a:p>
            <a:pPr>
              <a:buSzPct val="100000"/>
            </a:pPr>
            <a:endParaRPr lang="es-CO" sz="1400" noProof="0" dirty="0"/>
          </a:p>
          <a:p>
            <a:pPr marL="127000" indent="-127000">
              <a:buSzPct val="100000"/>
              <a:buChar char="•"/>
            </a:pPr>
            <a:r>
              <a:rPr lang="es-CO" sz="1400" noProof="0" dirty="0">
                <a:solidFill>
                  <a:srgbClr val="0F172A"/>
                </a:solidFill>
              </a:rPr>
              <a:t>Incluye criterios de aceptación, riesgos y dependencias.</a:t>
            </a:r>
          </a:p>
          <a:p>
            <a:pPr>
              <a:buSzPct val="100000"/>
            </a:pPr>
            <a:endParaRPr lang="es-CO" sz="1400" noProof="0" dirty="0"/>
          </a:p>
          <a:p>
            <a:pPr marL="127000" indent="-127000">
              <a:buSzPct val="100000"/>
              <a:buChar char="•"/>
            </a:pPr>
            <a:r>
              <a:rPr lang="es-CO" sz="1400" noProof="0" dirty="0">
                <a:solidFill>
                  <a:srgbClr val="0F172A"/>
                </a:solidFill>
              </a:rPr>
              <a:t>Se refina antes de cada Sprint con hallazgos y restricciones reales.</a:t>
            </a:r>
            <a:endParaRPr lang="es-CO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1033272" y="5367528"/>
            <a:ext cx="2240280" cy="475488"/>
          </a:xfrm>
          <a:prstGeom prst="roundRect">
            <a:avLst>
              <a:gd name="adj" fmla="val 47059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O" sz="3200" noProof="0" dirty="0"/>
          </a:p>
        </p:txBody>
      </p:sp>
      <p:sp>
        <p:nvSpPr>
          <p:cNvPr id="14" name="Text 12"/>
          <p:cNvSpPr/>
          <p:nvPr/>
        </p:nvSpPr>
        <p:spPr>
          <a:xfrm>
            <a:off x="1106424" y="5465423"/>
            <a:ext cx="2093976" cy="279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</a:rPr>
              <a:t>Jira + Teams + Copilot/ChatGPT</a:t>
            </a:r>
            <a:endParaRPr lang="es-CO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4114800" y="182880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CCFBF1"/>
          </a:solidFill>
          <a:ln w="12700">
            <a:solidFill>
              <a:srgbClr val="CCFBF1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Shape 14"/>
          <p:cNvSpPr/>
          <p:nvPr/>
        </p:nvSpPr>
        <p:spPr>
          <a:xfrm>
            <a:off x="4297680" y="20299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15"/>
          <p:cNvSpPr/>
          <p:nvPr/>
        </p:nvSpPr>
        <p:spPr>
          <a:xfrm>
            <a:off x="4892040" y="205740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b="1" noProof="0" dirty="0">
                <a:solidFill>
                  <a:srgbClr val="0F172A"/>
                </a:solidFill>
              </a:rPr>
              <a:t>Sprint </a:t>
            </a:r>
            <a:br>
              <a:rPr lang="es-CO" b="1" noProof="0" dirty="0">
                <a:solidFill>
                  <a:srgbClr val="0F172A"/>
                </a:solidFill>
              </a:rPr>
            </a:br>
            <a:r>
              <a:rPr lang="es-CO" b="1" noProof="0" dirty="0">
                <a:solidFill>
                  <a:srgbClr val="0F172A"/>
                </a:solidFill>
              </a:rPr>
              <a:t>Backlog</a:t>
            </a:r>
            <a:endParaRPr lang="es-CO" noProof="0" dirty="0"/>
          </a:p>
        </p:txBody>
      </p:sp>
      <p:sp>
        <p:nvSpPr>
          <p:cNvPr id="18" name="Text 16"/>
          <p:cNvSpPr/>
          <p:nvPr/>
        </p:nvSpPr>
        <p:spPr>
          <a:xfrm>
            <a:off x="4334256" y="2743200"/>
            <a:ext cx="2304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s-CO" sz="1400" noProof="0" dirty="0">
                <a:solidFill>
                  <a:srgbClr val="0F172A"/>
                </a:solidFill>
              </a:rPr>
              <a:t>Convierte PBIs en plan operativo del Sprint.</a:t>
            </a:r>
          </a:p>
          <a:p>
            <a:pPr>
              <a:buSzPct val="100000"/>
            </a:pPr>
            <a:endParaRPr lang="es-CO" sz="1400" noProof="0" dirty="0"/>
          </a:p>
          <a:p>
            <a:pPr marL="127000" indent="-127000">
              <a:buSzPct val="100000"/>
              <a:buChar char="•"/>
            </a:pPr>
            <a:r>
              <a:rPr lang="es-CO" sz="1400" noProof="0" dirty="0">
                <a:solidFill>
                  <a:srgbClr val="0F172A"/>
                </a:solidFill>
              </a:rPr>
              <a:t>Asigna responsables, secuencia, bloqueos y evidencias.</a:t>
            </a:r>
          </a:p>
          <a:p>
            <a:pPr>
              <a:buSzPct val="100000"/>
            </a:pPr>
            <a:endParaRPr lang="es-CO" sz="1400" noProof="0" dirty="0"/>
          </a:p>
          <a:p>
            <a:pPr marL="127000" indent="-127000">
              <a:buSzPct val="100000"/>
              <a:buChar char="•"/>
            </a:pPr>
            <a:r>
              <a:rPr lang="es-CO" sz="1400" noProof="0" dirty="0">
                <a:solidFill>
                  <a:srgbClr val="0F172A"/>
                </a:solidFill>
              </a:rPr>
              <a:t>Se actualiza a diario con avance de cuadrillas y condiciones de campo.</a:t>
            </a:r>
            <a:endParaRPr lang="es-CO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4370832" y="5367528"/>
            <a:ext cx="2240280" cy="475488"/>
          </a:xfrm>
          <a:prstGeom prst="roundRect">
            <a:avLst>
              <a:gd name="adj" fmla="val 4705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s-CO" sz="3200" noProof="0" dirty="0"/>
          </a:p>
        </p:txBody>
      </p:sp>
      <p:sp>
        <p:nvSpPr>
          <p:cNvPr id="20" name="Text 18"/>
          <p:cNvSpPr/>
          <p:nvPr/>
        </p:nvSpPr>
        <p:spPr>
          <a:xfrm>
            <a:off x="4443984" y="5465423"/>
            <a:ext cx="2093976" cy="279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</a:rPr>
              <a:t>Jira + Teams + Survey123</a:t>
            </a:r>
            <a:endParaRPr lang="es-CO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7452360" y="182880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22" name="Shape 20"/>
          <p:cNvSpPr/>
          <p:nvPr/>
        </p:nvSpPr>
        <p:spPr>
          <a:xfrm>
            <a:off x="7635240" y="20299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21"/>
          <p:cNvSpPr/>
          <p:nvPr/>
        </p:nvSpPr>
        <p:spPr>
          <a:xfrm>
            <a:off x="8229600" y="2057400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b="1" noProof="0" dirty="0">
                <a:solidFill>
                  <a:srgbClr val="0F172A"/>
                </a:solidFill>
              </a:rPr>
              <a:t>Increment</a:t>
            </a:r>
            <a:endParaRPr lang="es-CO" noProof="0" dirty="0"/>
          </a:p>
        </p:txBody>
      </p:sp>
      <p:sp>
        <p:nvSpPr>
          <p:cNvPr id="24" name="Text 22"/>
          <p:cNvSpPr/>
          <p:nvPr/>
        </p:nvSpPr>
        <p:spPr>
          <a:xfrm>
            <a:off x="7671816" y="2743200"/>
            <a:ext cx="230428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buSzPct val="100000"/>
              <a:buChar char="•"/>
            </a:pPr>
            <a:r>
              <a:rPr lang="es-CO" sz="1400" noProof="0" dirty="0">
                <a:solidFill>
                  <a:srgbClr val="0F172A"/>
                </a:solidFill>
              </a:rPr>
              <a:t>Entrega usable: sistema instalado, probado y documentado.</a:t>
            </a:r>
          </a:p>
          <a:p>
            <a:pPr>
              <a:buSzPct val="100000"/>
            </a:pPr>
            <a:endParaRPr lang="es-CO" sz="1400" noProof="0" dirty="0"/>
          </a:p>
          <a:p>
            <a:pPr marL="127000" indent="-127000">
              <a:buSzPct val="100000"/>
              <a:buChar char="•"/>
            </a:pPr>
            <a:r>
              <a:rPr lang="es-CO" sz="1400" noProof="0" dirty="0">
                <a:solidFill>
                  <a:srgbClr val="0F172A"/>
                </a:solidFill>
              </a:rPr>
              <a:t>Exige checklist técnico, fotos, firmas y capacitación básica.</a:t>
            </a:r>
          </a:p>
          <a:p>
            <a:pPr>
              <a:buSzPct val="100000"/>
            </a:pPr>
            <a:endParaRPr lang="es-CO" sz="1400" noProof="0" dirty="0"/>
          </a:p>
          <a:p>
            <a:pPr marL="127000" indent="-127000">
              <a:buSzPct val="100000"/>
              <a:buChar char="•"/>
            </a:pPr>
            <a:r>
              <a:rPr lang="es-CO" sz="1400" noProof="0" dirty="0">
                <a:solidFill>
                  <a:srgbClr val="0F172A"/>
                </a:solidFill>
              </a:rPr>
              <a:t>Se valida en Sprint Review bajo la Definition of Done.</a:t>
            </a:r>
            <a:endParaRPr lang="es-CO" sz="1400" noProof="0" dirty="0"/>
          </a:p>
        </p:txBody>
      </p:sp>
      <p:sp>
        <p:nvSpPr>
          <p:cNvPr id="25" name="Shape 23"/>
          <p:cNvSpPr/>
          <p:nvPr/>
        </p:nvSpPr>
        <p:spPr>
          <a:xfrm>
            <a:off x="7708392" y="5367528"/>
            <a:ext cx="2240280" cy="475488"/>
          </a:xfrm>
          <a:prstGeom prst="roundRect">
            <a:avLst>
              <a:gd name="adj" fmla="val 4705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s-CO" sz="3200" noProof="0" dirty="0"/>
          </a:p>
        </p:txBody>
      </p:sp>
      <p:sp>
        <p:nvSpPr>
          <p:cNvPr id="26" name="Text 24"/>
          <p:cNvSpPr/>
          <p:nvPr/>
        </p:nvSpPr>
        <p:spPr>
          <a:xfrm>
            <a:off x="7781544" y="5465423"/>
            <a:ext cx="2093976" cy="279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O" sz="1200" b="1" noProof="0" dirty="0">
                <a:solidFill>
                  <a:srgbClr val="FFFFFF"/>
                </a:solidFill>
              </a:rPr>
              <a:t>Survey123 + Jira + Teams</a:t>
            </a:r>
            <a:endParaRPr lang="es-CO" sz="1200" noProof="0" dirty="0"/>
          </a:p>
        </p:txBody>
      </p:sp>
      <p:pic>
        <p:nvPicPr>
          <p:cNvPr id="28" name="Gráfico 27" descr="Portapapeles con relleno sólido">
            <a:extLst>
              <a:ext uri="{FF2B5EF4-FFF2-40B4-BE49-F238E27FC236}">
                <a16:creationId xmlns:a16="http://schemas.microsoft.com/office/drawing/2014/main" id="{41084964-2288-EA4A-40A6-1179FEC76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532" y="31775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3" name="Shape 1"/>
          <p:cNvSpPr/>
          <p:nvPr/>
        </p:nvSpPr>
        <p:spPr>
          <a:xfrm>
            <a:off x="9326880" y="91440"/>
            <a:ext cx="2286000" cy="2011680"/>
          </a:xfrm>
          <a:prstGeom prst="arc">
            <a:avLst/>
          </a:prstGeom>
          <a:noFill/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4" name="Shape 2"/>
          <p:cNvSpPr/>
          <p:nvPr/>
        </p:nvSpPr>
        <p:spPr>
          <a:xfrm>
            <a:off x="182880" y="4663440"/>
            <a:ext cx="1645920" cy="1463040"/>
          </a:xfrm>
          <a:prstGeom prst="arc">
            <a:avLst/>
          </a:prstGeom>
          <a:noFill/>
          <a:ln w="12700">
            <a:solidFill>
              <a:srgbClr val="F59E0B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21945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B6C6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Grupo 202086806A</a:t>
            </a:r>
            <a:endParaRPr lang="es-CO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713232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2300" b="1" noProof="0" dirty="0">
                <a:solidFill>
                  <a:srgbClr val="FFFFFF"/>
                </a:solidFill>
              </a:rPr>
              <a:t>Repositorio en Línea</a:t>
            </a:r>
            <a:endParaRPr lang="es-CO" sz="23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1207008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400" noProof="0" dirty="0">
                <a:solidFill>
                  <a:srgbClr val="DCEBFF"/>
                </a:solidFill>
              </a:rPr>
              <a:t>Estructura recomendada para concentrar soportes, formatos y procedimientos.</a:t>
            </a:r>
            <a:endParaRPr lang="es-CO" sz="14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49834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9050" dist="127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CO" sz="1800" b="1" noProof="0" dirty="0">
                <a:solidFill>
                  <a:srgbClr val="1D4ED8"/>
                </a:solidFill>
              </a:rPr>
              <a:t>Estructura Sugerida</a:t>
            </a:r>
            <a:endParaRPr lang="es-CO" sz="1800" noProof="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4160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noProof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Repositorio_SISFV_Argelia_Cauca:</a:t>
            </a:r>
          </a:p>
          <a:p>
            <a:pPr marL="0" indent="0">
              <a:buNone/>
            </a:pPr>
            <a:endParaRPr lang="es-CO" sz="1600" noProof="0" dirty="0"/>
          </a:p>
          <a:p>
            <a:pPr marL="0" indent="0">
              <a:buNone/>
            </a:pPr>
            <a:r>
              <a:rPr lang="es-CO" sz="1600" noProof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01_Fuentes_Proyecto</a:t>
            </a:r>
            <a:endParaRPr lang="es-CO" sz="1600" noProof="0" dirty="0"/>
          </a:p>
          <a:p>
            <a:pPr marL="0" indent="0">
              <a:buNone/>
            </a:pPr>
            <a:r>
              <a:rPr lang="es-CO" sz="1600" noProof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02_Soportes_Valores_y_Acuerdos</a:t>
            </a:r>
            <a:endParaRPr lang="es-CO" sz="1600" noProof="0" dirty="0"/>
          </a:p>
          <a:p>
            <a:pPr marL="0" indent="0">
              <a:buNone/>
            </a:pPr>
            <a:r>
              <a:rPr lang="es-CO" sz="1600" noProof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03_Soportes_Eventos_Scrum</a:t>
            </a:r>
            <a:endParaRPr lang="es-CO" sz="1600" noProof="0" dirty="0"/>
          </a:p>
          <a:p>
            <a:pPr marL="0" indent="0">
              <a:buNone/>
            </a:pPr>
            <a:r>
              <a:rPr lang="es-CO" sz="1600" noProof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04_Soportes_Artefactos_Scrum</a:t>
            </a:r>
            <a:br>
              <a:rPr lang="es-CO" sz="1600" noProof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s-CO" sz="1600" noProof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05_Formatos_Base</a:t>
            </a:r>
            <a:endParaRPr lang="es-CO" sz="1600" noProof="0" dirty="0"/>
          </a:p>
          <a:p>
            <a:pPr marL="0" indent="0">
              <a:buNone/>
            </a:pPr>
            <a:r>
              <a:rPr lang="es-CO" sz="1600" noProof="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06_Presentacion</a:t>
            </a:r>
            <a:endParaRPr lang="es-CO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960120" y="4877069"/>
            <a:ext cx="42062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s-CO" sz="1400" b="1" noProof="0" dirty="0">
                <a:solidFill>
                  <a:srgbClr val="0F172A"/>
                </a:solidFill>
              </a:rPr>
              <a:t>Incluye
</a:t>
            </a:r>
            <a:r>
              <a:rPr lang="es-CO" sz="1400" noProof="0" dirty="0">
                <a:solidFill>
                  <a:srgbClr val="64748B"/>
                </a:solidFill>
              </a:rPr>
              <a:t>• Anexos técnicos del proyecto.</a:t>
            </a:r>
            <a:endParaRPr lang="es-CO" sz="1400" noProof="0" dirty="0"/>
          </a:p>
          <a:p>
            <a:pPr marL="0" indent="0">
              <a:buNone/>
            </a:pPr>
            <a:r>
              <a:rPr lang="es-CO" sz="1400" noProof="0" dirty="0">
                <a:solidFill>
                  <a:srgbClr val="64748B"/>
                </a:solidFill>
              </a:rPr>
              <a:t>• Formatos de backlog, DoD, Review y Retrospective.</a:t>
            </a:r>
            <a:endParaRPr lang="es-CO" sz="1400" noProof="0" dirty="0"/>
          </a:p>
          <a:p>
            <a:pPr marL="0" indent="0">
              <a:buNone/>
            </a:pPr>
            <a:r>
              <a:rPr lang="es-CO" sz="1400" noProof="0" dirty="0">
                <a:solidFill>
                  <a:srgbClr val="64748B"/>
                </a:solidFill>
              </a:rPr>
              <a:t>• Procedimientos y orientaciones de trabajo.</a:t>
            </a:r>
            <a:endParaRPr lang="es-CO" sz="1400" noProof="0" dirty="0"/>
          </a:p>
          <a:p>
            <a:pPr marL="0" indent="0">
              <a:buNone/>
            </a:pPr>
            <a:r>
              <a:rPr lang="es-CO" sz="1400" noProof="0" dirty="0">
                <a:solidFill>
                  <a:srgbClr val="64748B"/>
                </a:solidFill>
              </a:rPr>
              <a:t>• Presentación memoria del proyecto.</a:t>
            </a:r>
            <a:endParaRPr lang="es-CO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5897880" y="1691640"/>
            <a:ext cx="5669280" cy="4526280"/>
          </a:xfrm>
          <a:prstGeom prst="roundRect">
            <a:avLst>
              <a:gd name="adj" fmla="val 2424"/>
            </a:avLst>
          </a:prstGeom>
          <a:solidFill>
            <a:srgbClr val="132240"/>
          </a:solidFill>
          <a:ln w="12700">
            <a:solidFill>
              <a:srgbClr val="13224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569B86F7-CBF8-2DD1-D444-349D616CD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573" y="2194560"/>
            <a:ext cx="5096307" cy="35223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994</Words>
  <Application>Microsoft Office PowerPoint</Application>
  <PresentationFormat>Panorámica</PresentationFormat>
  <Paragraphs>154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Arial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memoria del proyecto - SISFV – Argelia, Cauca</dc:title>
  <dc:subject>Memoria del proyecto Scrum - SISFV – Argelia, Cauca</dc:subject>
  <dc:creator>OpenAI</dc:creator>
  <cp:lastModifiedBy>Libardo Urrea Q.</cp:lastModifiedBy>
  <cp:revision>14</cp:revision>
  <dcterms:created xsi:type="dcterms:W3CDTF">2026-03-14T22:35:07Z</dcterms:created>
  <dcterms:modified xsi:type="dcterms:W3CDTF">2026-03-15T01:47:23Z</dcterms:modified>
</cp:coreProperties>
</file>